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4A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65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프로젝트 소스: minsec_stopwatch_project.srcs/sources_1/imports/sources_1/new/ 및 sim_1/new/tb_minsec_stopwatch.v. 실제 RTL 기준으로 정리.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프로젝트 소스: minsec_stopwatch_project.srcs/sources_1/imports/sources_1/new/ 및 sim_1/new/tb_minsec_stopwatch.v. 실제 RTL 기준으로 정리. 스톱워치 모드에서는 현재 코드가 소수점을 켜지 않으므로 10ms 단위 정수로 표시된다.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 제공 제목 없음 (2).png. top.v의 전체 연결 구조. 이미지 원본을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없음</a:t>
            </a:r>
            <a:r>
              <a:rPr dirty="0"/>
              <a:t> (5).</a:t>
            </a:r>
            <a:r>
              <a:rPr dirty="0" err="1"/>
              <a:t>png</a:t>
            </a:r>
            <a:r>
              <a:rPr dirty="0"/>
              <a:t>. </a:t>
            </a:r>
            <a:r>
              <a:rPr dirty="0" err="1"/>
              <a:t>기능별</a:t>
            </a:r>
            <a:r>
              <a:rPr dirty="0"/>
              <a:t> </a:t>
            </a:r>
            <a:r>
              <a:rPr dirty="0" err="1"/>
              <a:t>논리</a:t>
            </a:r>
            <a:r>
              <a:rPr dirty="0"/>
              <a:t> </a:t>
            </a:r>
            <a:r>
              <a:rPr dirty="0" err="1"/>
              <a:t>블록도이며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RTL에서</a:t>
            </a:r>
            <a:r>
              <a:rPr dirty="0"/>
              <a:t> 각 </a:t>
            </a:r>
            <a:r>
              <a:rPr dirty="0" err="1"/>
              <a:t>블록을</a:t>
            </a:r>
            <a:r>
              <a:rPr dirty="0"/>
              <a:t> </a:t>
            </a:r>
            <a:r>
              <a:rPr dirty="0" err="1"/>
              <a:t>별도</a:t>
            </a:r>
            <a:r>
              <a:rPr dirty="0"/>
              <a:t> </a:t>
            </a:r>
            <a:r>
              <a:rPr dirty="0" err="1"/>
              <a:t>모듈로</a:t>
            </a:r>
            <a:r>
              <a:rPr dirty="0"/>
              <a:t> </a:t>
            </a:r>
            <a:r>
              <a:rPr dirty="0" err="1"/>
              <a:t>선언한</a:t>
            </a:r>
            <a:r>
              <a:rPr dirty="0"/>
              <a:t> </a:t>
            </a:r>
            <a:r>
              <a:rPr dirty="0" err="1"/>
              <a:t>것은</a:t>
            </a:r>
            <a:r>
              <a:rPr dirty="0"/>
              <a:t> </a:t>
            </a:r>
            <a:r>
              <a:rPr dirty="0" err="1"/>
              <a:t>아니다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프로젝트 소스: minsec_stopwatch_project.srcs/sources_1/imports/sources_1/new/ 및 sim_1/new/tb_minsec_stopwatch.v. 실제 RTL 기준으로 정리. 도형 간 화살표는 대표 전이이며 양방향 동작은 위 레이블로 명시. 버튼 우선순위 Left &gt; Center &gt; Right. RESET은 다음 클럭에 STOP_WATCH로 자동 복귀. 첨부 그림의 PAUSE 복귀와 실제 코드가 다르다.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프로젝트 소스: minsec_stopwatch_project.srcs/sources_1/imports/sources_1/new/ 및 sim_1/new/tb_minsec_stopwatch.v. 실제 RTL 기준으로 정리.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프로젝트 소스: minsec_stopwatch_project.srcs/sources_1/imports/sources_1/new/ 및 sim_1/new/tb_minsec_stopwatch.v. 실제 RTL 기준으로 정리. fnd_controller.v: r_anim_count 0~99, r_anim_step 0~5. 애니메이션은 숫자 표시를 대체한다.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프로젝트 소스: minsec_stopwatch_project.srcs/sources_1/imports/sources_1/new/ 및 sim_1/new/tb_minsec_stopwatch.v. 실제 RTL 기준으로 정리. 기존 TB에는 자동 PASS/FAIL assertion이 없다. 파형 관찰 기반 검증이다.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 제공 파형 이미지. led[15:14]가 r_mode를 나타낸다. 위 상태 열은 파형 관찰에 근거한다. 시간 분석은 다음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 제공 20261022_154124.mp4. 보드 방향을 읽기 편하도록 회전하고 720p로 인코딩한 영상을 PPTX에 포함. 촬영 영상은 동작 시연 자료이며 정밀 시간 측정 자료는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제공 RTL과 파형에 근거한 점검 항목 및 구현 정리. 실제 발생 이력을 추정하지 않음. FSM은 코드 기준으로 수정.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개념도이며 비율과 시간 길이는 특정 FPGA 사양을 나타내지 않는다. 출처: Intel AN 584 https://www.intel.com/programmable/technical-pdfs/654340.pdf 및 Toshiba https://toshiba.semicon-storage.com/us/semiconductor/knowledge/e-learning/cmos-logic-usage-considerations/usage-11.html</a:t>
            </a:r>
          </a:p>
          <a:p>
            <a:r>
              <a:t> 위반 시 잘못된 데이터 포착 또는 메타안정성 가능. setup 원인: 긴 조합 경로와 배선 지연. hold 원인: 짧은 최소 경로 및 불리한 스큐.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Intel Metastability Analysis https://www.intel.com/content/www/us/en/docs/programmable/683068/18-1/metastability-analysis.html. 동기화기는 실패 확률을 감소시키며 0으로 보장하지 않는다. 프로젝트 적용: r_sync1, r_sync2.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개념 파형. 출처: AMD UG472 https://www.amd.com/content/dam/xilinx/support/documents/user_guides/ug472_7Series_Clocking.pdf, UG474 Clock Enable https://docs.amd.com/r/en-US/ug474_7Series_CLB/Clock-Enable-CE. 프로젝트 tick은 새 클럭이 아니라 posedge clk 내부 enable로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Intel Quartus Prime Pro Design Optimization https://cdrdv2-public.intel.com/780408/ug-683641-780408.pdf. FPGA에서는 전기적 구동뿐 아니라 배선 지연과 배치가 중요. reset/enable은 고 fan-out 후보이며 실제 문제 발생을 단정하지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164218B-D6D7-4D16-B35C-109B8D937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516EA9C-71BA-45CA-A457-233557321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8012D2C-9379-4F2D-843D-D3E421CD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BFB21D4-903D-4A45-AB4E-38E9E7009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109662B-2774-47A2-A7DB-ECDEB92E6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ED37683-C02A-46D7-A586-412E53468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30730C3-D9F0-4767-AFF5-F0F384A11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105F0F2-FC08-465B-BB50-39D1A6A6850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FDE51A7-9C11-4AFC-8AE8-714FC32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8D2AD31-3B5D-4169-9035-1C1EAE9C3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0CCC1E-76AE-496F-BC92-DFCB5A80F439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DIGITAL SYSTEM DESIGN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8A2098-4F6C-4B42-8060-645AF3E929BC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FPGA 분·초 시계 &amp; 스톱워치</a:t>
            </a:r>
          </a:p>
        </p:txBody>
      </p:sp>
      <p:sp>
        <p:nvSpPr>
          <p:cNvPr id="4" name="자유형 3">
            <a:extLst>
              <a:ext uri="{FF2B5EF4-FFF2-40B4-BE49-F238E27FC236}">
                <a16:creationId xmlns:a16="http://schemas.microsoft.com/office/drawing/2014/main" id="{61C69A2E-ADC5-41D6-BCA0-81B124AC7307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C5C1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16605D-46B5-42DC-8C40-3C051935BA8D}"/>
              </a:ext>
            </a:extLst>
          </p:cNvPr>
          <p:cNvSpPr>
            <a:spLocks noGrp="1"/>
          </p:cNvSpPr>
          <p:nvPr/>
        </p:nvSpPr>
        <p:spPr>
          <a:xfrm>
            <a:off x="11096625" y="64389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E0788B-3445-4E29-B8DB-08D9B36ADDC1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42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42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42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42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42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42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42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42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42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42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42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Verilog 구현과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A09AA1-60A0-4B1A-A490-B063441BBD61}"/>
              </a:ext>
            </a:extLst>
          </p:cNvPr>
          <p:cNvSpPr>
            <a:spLocks noGrp="1"/>
          </p:cNvSpPr>
          <p:nvPr/>
        </p:nvSpPr>
        <p:spPr>
          <a:xfrm>
            <a:off x="619125" y="3067050"/>
            <a:ext cx="10001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1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100 MHz 클럭 기반 제어 · 4자리 FND 표시</a:t>
            </a:r>
          </a:p>
        </p:txBody>
      </p:sp>
      <p:sp>
        <p:nvSpPr>
          <p:cNvPr id="8" name="자유형 7">
            <a:extLst>
              <a:ext uri="{FF2B5EF4-FFF2-40B4-BE49-F238E27FC236}">
                <a16:creationId xmlns:a16="http://schemas.microsoft.com/office/drawing/2014/main" id="{2CA58943-EFC7-4454-BEBF-89D7E475A690}"/>
              </a:ext>
            </a:extLst>
          </p:cNvPr>
          <p:cNvSpPr>
            <a:spLocks noGrp="1"/>
          </p:cNvSpPr>
          <p:nvPr/>
        </p:nvSpPr>
        <p:spPr>
          <a:xfrm>
            <a:off x="619125" y="4191000"/>
            <a:ext cx="7762875" cy="9525"/>
          </a:xfrm>
          <a:custGeom>
            <a:avLst/>
            <a:gdLst/>
            <a:ahLst/>
            <a:cxnLst/>
            <a:rect l="0" t="0" r="0" b="0"/>
            <a:pathLst>
              <a:path w="7762875" h="9525">
                <a:moveTo>
                  <a:pt x="0" y="0"/>
                </a:moveTo>
                <a:lnTo>
                  <a:pt x="7762875" y="0"/>
                </a:lnTo>
              </a:path>
            </a:pathLst>
          </a:custGeom>
          <a:noFill/>
          <a:ln w="38100">
            <a:solidFill>
              <a:srgbClr val="957A73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51904E-CC18-4D31-8BDE-92F6DED66A00}"/>
              </a:ext>
            </a:extLst>
          </p:cNvPr>
          <p:cNvSpPr>
            <a:spLocks noGrp="1"/>
          </p:cNvSpPr>
          <p:nvPr/>
        </p:nvSpPr>
        <p:spPr>
          <a:xfrm>
            <a:off x="619125" y="6334125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dirty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2026.10.22</a:t>
            </a:r>
          </a:p>
        </p:txBody>
      </p:sp>
    </p:spTree>
    <p:extLst>
      <p:ext uri="{BB962C8B-B14F-4D97-AF65-F5344CB8AC3E}">
        <p14:creationId xmlns:p14="http://schemas.microsoft.com/office/powerpoint/2010/main" val="1055046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39FD359-BCCF-4312-A898-7D8A3F9C97A3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01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CF11E6-0D29-4A95-9414-0F1210C554CA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동작 목표와 입출력</a:t>
            </a:r>
          </a:p>
        </p:txBody>
      </p:sp>
      <p:sp>
        <p:nvSpPr>
          <p:cNvPr id="4" name="자유형 3">
            <a:extLst>
              <a:ext uri="{FF2B5EF4-FFF2-40B4-BE49-F238E27FC236}">
                <a16:creationId xmlns:a16="http://schemas.microsoft.com/office/drawing/2014/main" id="{FCC9CA30-6E76-43B5-B003-EA2DA50F4F97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C5C1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28175F-9705-4B65-B7AF-91B16F5690F5}"/>
              </a:ext>
            </a:extLst>
          </p:cNvPr>
          <p:cNvSpPr>
            <a:spLocks noGrp="1"/>
          </p:cNvSpPr>
          <p:nvPr/>
        </p:nvSpPr>
        <p:spPr>
          <a:xfrm>
            <a:off x="11096625" y="64389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3FEFD9-7E2C-41CE-9A1C-97DA8F7C73A3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분·초 시계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625EF5B-525A-4D7F-A6BD-1451035B6469}"/>
              </a:ext>
            </a:extLst>
          </p:cNvPr>
          <p:cNvSpPr>
            <a:spLocks noGrp="1"/>
          </p:cNvSpPr>
          <p:nvPr/>
        </p:nvSpPr>
        <p:spPr>
          <a:xfrm>
            <a:off x="619125" y="2266950"/>
            <a:ext cx="523875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00:00부터 59:59까지 반복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다른 모드에서도 시계 카운터는 계속 동작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7E1A81C-2CE6-4BC6-8C0A-C5C1370FD7DF}"/>
              </a:ext>
            </a:extLst>
          </p:cNvPr>
          <p:cNvSpPr>
            <a:spLocks noGrp="1"/>
          </p:cNvSpPr>
          <p:nvPr/>
        </p:nvSpPr>
        <p:spPr>
          <a:xfrm>
            <a:off x="6286500" y="18097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스톱워치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B9EAF2-FEB3-4538-98E4-5E0FF4BDB569}"/>
              </a:ext>
            </a:extLst>
          </p:cNvPr>
          <p:cNvSpPr>
            <a:spLocks noGrp="1"/>
          </p:cNvSpPr>
          <p:nvPr/>
        </p:nvSpPr>
        <p:spPr>
          <a:xfrm>
            <a:off x="6286500" y="2266950"/>
            <a:ext cx="523875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10 ms 단위로 0000~9999 카운트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측정 범위 0~99.99초, PAUSE에서 값 유지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DCEF08A-92BD-4418-AE11-6883D2E2FC0F}"/>
              </a:ext>
            </a:extLst>
          </p:cNvPr>
          <p:cNvSpPr>
            <a:spLocks noGrp="1"/>
          </p:cNvSpPr>
          <p:nvPr/>
        </p:nvSpPr>
        <p:spPr>
          <a:xfrm>
            <a:off x="619125" y="39052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사용자 입력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C008A1-CA17-4EFB-A4B0-E8507D5565DB}"/>
              </a:ext>
            </a:extLst>
          </p:cNvPr>
          <p:cNvSpPr>
            <a:spLocks noGrp="1"/>
          </p:cNvSpPr>
          <p:nvPr/>
        </p:nvSpPr>
        <p:spPr>
          <a:xfrm>
            <a:off x="619125" y="4362450"/>
            <a:ext cx="523875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Left  모드 전환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Center  스톱워치 초기화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Right  일시정지 / 재개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9097CD-923C-4A10-9D97-25C10D993266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표시 출력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8441600-BE25-474C-9CA7-70849618102A}"/>
              </a:ext>
            </a:extLst>
          </p:cNvPr>
          <p:cNvSpPr>
            <a:spLocks noGrp="1"/>
          </p:cNvSpPr>
          <p:nvPr/>
        </p:nvSpPr>
        <p:spPr>
          <a:xfrm>
            <a:off x="6286500" y="4362450"/>
            <a:ext cx="523875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4자리 FND와 상태 LED[15:14]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시계 점멸 표시, PAUSE 3초 후 애니메이션</a:t>
            </a:r>
          </a:p>
        </p:txBody>
      </p:sp>
    </p:spTree>
    <p:extLst>
      <p:ext uri="{BB962C8B-B14F-4D97-AF65-F5344CB8AC3E}">
        <p14:creationId xmlns:p14="http://schemas.microsoft.com/office/powerpoint/2010/main" val="2065672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B97BA0E-694A-424A-9839-AD6B9050A9DA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02 구현 내용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A48F207-56D4-44AD-9F90-CD8612D19ED5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전체 Block diagram</a:t>
            </a:r>
          </a:p>
        </p:txBody>
      </p:sp>
      <p:sp>
        <p:nvSpPr>
          <p:cNvPr id="4" name="자유형 3">
            <a:extLst>
              <a:ext uri="{FF2B5EF4-FFF2-40B4-BE49-F238E27FC236}">
                <a16:creationId xmlns:a16="http://schemas.microsoft.com/office/drawing/2014/main" id="{08BEDDCC-2E9F-4A2C-8A6E-1176F4126AE3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C5C1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CD688C-DC37-4F48-BC54-48F03DFD792C}"/>
              </a:ext>
            </a:extLst>
          </p:cNvPr>
          <p:cNvSpPr>
            <a:spLocks noGrp="1"/>
          </p:cNvSpPr>
          <p:nvPr/>
        </p:nvSpPr>
        <p:spPr>
          <a:xfrm>
            <a:off x="11096625" y="64389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77" t="3631" r="26313" b="-3631"/>
          <a:stretch/>
        </p:blipFill>
        <p:spPr>
          <a:xfrm>
            <a:off x="1589314" y="1400175"/>
            <a:ext cx="9013372" cy="462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984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7" t="17596" r="11508" b="21179"/>
          <a:stretch/>
        </p:blipFill>
        <p:spPr>
          <a:xfrm>
            <a:off x="1267602" y="1390650"/>
            <a:ext cx="8609045" cy="419877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8DCE426-0FDD-46CD-93D8-307A21963C06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02 구현 내용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E788FA2-D866-4E95-B743-63F56DAB17EE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Main controller 내부 구조</a:t>
            </a:r>
          </a:p>
        </p:txBody>
      </p:sp>
      <p:sp>
        <p:nvSpPr>
          <p:cNvPr id="4" name="자유형 3">
            <a:extLst>
              <a:ext uri="{FF2B5EF4-FFF2-40B4-BE49-F238E27FC236}">
                <a16:creationId xmlns:a16="http://schemas.microsoft.com/office/drawing/2014/main" id="{4679B3B3-546C-4B07-8EFE-D8ADCDE7314C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C5C1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93E5CE6-141D-417A-82D9-30AAE4E08B8F}"/>
              </a:ext>
            </a:extLst>
          </p:cNvPr>
          <p:cNvSpPr>
            <a:spLocks noGrp="1"/>
          </p:cNvSpPr>
          <p:nvPr/>
        </p:nvSpPr>
        <p:spPr>
          <a:xfrm>
            <a:off x="11096625" y="64389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7602" y="5589427"/>
            <a:ext cx="2450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공통 </a:t>
            </a:r>
            <a:r>
              <a:rPr lang="en-US" altLang="ko-KR" dirty="0" smtClean="0"/>
              <a:t>input : </a:t>
            </a:r>
            <a:r>
              <a:rPr lang="en-US" altLang="ko-KR" dirty="0" err="1" smtClean="0"/>
              <a:t>clk</a:t>
            </a:r>
            <a:r>
              <a:rPr lang="en-US" altLang="ko-KR" dirty="0" smtClean="0"/>
              <a:t>, reset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1571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8024" r="5050" b="10019"/>
          <a:stretch/>
        </p:blipFill>
        <p:spPr>
          <a:xfrm>
            <a:off x="571500" y="1390650"/>
            <a:ext cx="10991462" cy="450357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D366609-CC4F-4CF4-BD53-0527C0D2E6E7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02 구현 내용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BEB31E2-13B1-41E9-ABA4-E2E36954FAC1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FSM 상태 전이</a:t>
            </a:r>
          </a:p>
        </p:txBody>
      </p:sp>
      <p:sp>
        <p:nvSpPr>
          <p:cNvPr id="11" name="자유형 10">
            <a:extLst>
              <a:ext uri="{FF2B5EF4-FFF2-40B4-BE49-F238E27FC236}">
                <a16:creationId xmlns:a16="http://schemas.microsoft.com/office/drawing/2014/main" id="{F9AB5CCA-75AA-4D6C-80D8-71E32B99D8D6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C5C1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1D3CF5-B518-47D5-86C9-2DF6CA98B563}"/>
              </a:ext>
            </a:extLst>
          </p:cNvPr>
          <p:cNvSpPr>
            <a:spLocks noGrp="1"/>
          </p:cNvSpPr>
          <p:nvPr/>
        </p:nvSpPr>
        <p:spPr>
          <a:xfrm>
            <a:off x="11096625" y="64389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4687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7D27FE3-B28F-4663-B948-4243E92BCD64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02 구현 내용</a:t>
            </a:r>
          </a:p>
        </p:txBody>
      </p:sp>
      <p:sp>
        <p:nvSpPr>
          <p:cNvPr id="4" name="자유형 3">
            <a:extLst>
              <a:ext uri="{FF2B5EF4-FFF2-40B4-BE49-F238E27FC236}">
                <a16:creationId xmlns:a16="http://schemas.microsoft.com/office/drawing/2014/main" id="{12B95E77-242E-4177-B4F7-9449EFBE7B9B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C5C1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968767-F1B0-48B5-8AD5-20021E6AA563}"/>
              </a:ext>
            </a:extLst>
          </p:cNvPr>
          <p:cNvSpPr>
            <a:spLocks noGrp="1"/>
          </p:cNvSpPr>
          <p:nvPr/>
        </p:nvSpPr>
        <p:spPr>
          <a:xfrm>
            <a:off x="11096625" y="64389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7D27FE3-B28F-4663-B948-4243E92BCD64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02 구현 내용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EE06FF-79A3-44DA-BAF5-E38B29B90A3F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핵심 Source code</a:t>
            </a:r>
          </a:p>
        </p:txBody>
      </p:sp>
      <p:sp>
        <p:nvSpPr>
          <p:cNvPr id="15" name="자유형 14">
            <a:extLst>
              <a:ext uri="{FF2B5EF4-FFF2-40B4-BE49-F238E27FC236}">
                <a16:creationId xmlns:a16="http://schemas.microsoft.com/office/drawing/2014/main" id="{12B95E77-242E-4177-B4F7-9449EFBE7B9B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C5C1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130D96-588E-487A-9C8D-60A6F93395F1}"/>
              </a:ext>
            </a:extLst>
          </p:cNvPr>
          <p:cNvSpPr>
            <a:spLocks noGrp="1"/>
          </p:cNvSpPr>
          <p:nvPr/>
        </p:nvSpPr>
        <p:spPr>
          <a:xfrm>
            <a:off x="619125" y="171450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01  FSM 상태 전환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56360A-043B-4501-96FB-266851F00A7E}"/>
              </a:ext>
            </a:extLst>
          </p:cNvPr>
          <p:cNvSpPr>
            <a:spLocks noGrp="1"/>
          </p:cNvSpPr>
          <p:nvPr/>
        </p:nvSpPr>
        <p:spPr>
          <a:xfrm>
            <a:off x="619125" y="2190750"/>
            <a:ext cx="2857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Right 버튼 상승 엣지에서</a:t>
            </a:r>
          </a:p>
          <a:p>
            <a: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실행과 일시정지 전환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D70A149-4615-40AD-987C-C7920D9E4E4B}"/>
              </a:ext>
            </a:extLst>
          </p:cNvPr>
          <p:cNvSpPr>
            <a:spLocks noGrp="1"/>
          </p:cNvSpPr>
          <p:nvPr/>
        </p:nvSpPr>
        <p:spPr>
          <a:xfrm>
            <a:off x="3714750" y="1666875"/>
            <a:ext cx="7858125" cy="1238250"/>
          </a:xfrm>
          <a:prstGeom prst="rect">
            <a:avLst/>
          </a:prstGeom>
          <a:solidFill>
            <a:srgbClr val="E9E3DF"/>
          </a:solidFill>
          <a:ln w="9525">
            <a:solidFill>
              <a:srgbClr val="E9E3DF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282C805-E389-48BF-938F-87112851E8E7}"/>
              </a:ext>
            </a:extLst>
          </p:cNvPr>
          <p:cNvSpPr>
            <a:spLocks noGrp="1"/>
          </p:cNvSpPr>
          <p:nvPr/>
        </p:nvSpPr>
        <p:spPr>
          <a:xfrm>
            <a:off x="3924300" y="1838325"/>
            <a:ext cx="74390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if (r_mode == STOP_WATCH)</a:t>
            </a:r>
          </a:p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   r_mode &lt;= PAUSE;</a:t>
            </a:r>
          </a:p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else if (r_mode == PAUSE)</a:t>
            </a:r>
          </a:p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   r_mode &lt;= STOP_WATCH;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D7AA601-C336-4841-B49E-7EA55DF41866}"/>
              </a:ext>
            </a:extLst>
          </p:cNvPr>
          <p:cNvSpPr>
            <a:spLocks noGrp="1"/>
          </p:cNvSpPr>
          <p:nvPr/>
        </p:nvSpPr>
        <p:spPr>
          <a:xfrm>
            <a:off x="619125" y="319087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02  10 ms 시간 계수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D97756-EEFD-4630-AD99-D55317EA421D}"/>
              </a:ext>
            </a:extLst>
          </p:cNvPr>
          <p:cNvSpPr>
            <a:spLocks noGrp="1"/>
          </p:cNvSpPr>
          <p:nvPr/>
        </p:nvSpPr>
        <p:spPr>
          <a:xfrm>
            <a:off x="619125" y="3667125"/>
            <a:ext cx="2952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100만 클럭마다 값 증가</a:t>
            </a:r>
          </a:p>
          <a:p>
            <a: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9999 다음에는 0으로 순환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1D04258-F1FB-44DD-A21C-B6C4564B37CE}"/>
              </a:ext>
            </a:extLst>
          </p:cNvPr>
          <p:cNvSpPr>
            <a:spLocks noGrp="1"/>
          </p:cNvSpPr>
          <p:nvPr/>
        </p:nvSpPr>
        <p:spPr>
          <a:xfrm>
            <a:off x="3714750" y="3095625"/>
            <a:ext cx="7858125" cy="1714500"/>
          </a:xfrm>
          <a:prstGeom prst="rect">
            <a:avLst/>
          </a:prstGeom>
          <a:solidFill>
            <a:srgbClr val="E9E3DF"/>
          </a:solidFill>
          <a:ln w="9525">
            <a:solidFill>
              <a:srgbClr val="E9E3DF"/>
            </a:solidFill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62EABBE-5382-45FD-A362-F9F88DE8EF86}"/>
              </a:ext>
            </a:extLst>
          </p:cNvPr>
          <p:cNvSpPr>
            <a:spLocks noGrp="1"/>
          </p:cNvSpPr>
          <p:nvPr/>
        </p:nvSpPr>
        <p:spPr>
          <a:xfrm>
            <a:off x="3924300" y="3267075"/>
            <a:ext cx="743902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if (r_10ns_counter == 20'd1_000_000-1) begin</a:t>
            </a:r>
          </a:p>
          <a:p>
            <a:pPr>
              <a:buNone/>
              <a:def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   r_10ns_counter &lt;= 0;</a:t>
            </a:r>
          </a:p>
          <a:p>
            <a:pPr>
              <a:buNone/>
              <a:def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   if (r_10ms_counter &gt;= 9999)</a:t>
            </a:r>
          </a:p>
          <a:p>
            <a:pPr>
              <a:buNone/>
              <a:def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       r_10ms_counter &lt;= 0;</a:t>
            </a:r>
          </a:p>
          <a:p>
            <a:pPr>
              <a:buNone/>
              <a:def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   else</a:t>
            </a:r>
          </a:p>
          <a:p>
            <a:pPr>
              <a:buNone/>
              <a:def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       r_10ms_counter &lt;= r_10ms_counter + 1;</a:t>
            </a:r>
          </a:p>
          <a:p>
            <a:pPr>
              <a:buNone/>
              <a:def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end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A4326B1-3242-4073-94C1-9F7DC08DAEAF}"/>
              </a:ext>
            </a:extLst>
          </p:cNvPr>
          <p:cNvSpPr>
            <a:spLocks noGrp="1"/>
          </p:cNvSpPr>
          <p:nvPr/>
        </p:nvSpPr>
        <p:spPr>
          <a:xfrm>
            <a:off x="619125" y="5095875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03  애니메이션 활성화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0C8B5B7-27A5-4A79-BFB4-910A4C102F20}"/>
              </a:ext>
            </a:extLst>
          </p:cNvPr>
          <p:cNvSpPr>
            <a:spLocks noGrp="1"/>
          </p:cNvSpPr>
          <p:nvPr/>
        </p:nvSpPr>
        <p:spPr>
          <a:xfrm>
            <a:off x="619125" y="5572125"/>
            <a:ext cx="2952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PAUSE에서 3초 무입력 시</a:t>
            </a:r>
          </a:p>
          <a:p>
            <a: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FND 애니메이션 실행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75028FE-A5D4-4F9D-B785-45599DB8C96C}"/>
              </a:ext>
            </a:extLst>
          </p:cNvPr>
          <p:cNvSpPr>
            <a:spLocks noGrp="1"/>
          </p:cNvSpPr>
          <p:nvPr/>
        </p:nvSpPr>
        <p:spPr>
          <a:xfrm>
            <a:off x="3714750" y="5000625"/>
            <a:ext cx="7858125" cy="1238250"/>
          </a:xfrm>
          <a:prstGeom prst="rect">
            <a:avLst/>
          </a:prstGeom>
          <a:solidFill>
            <a:srgbClr val="E9E3DF"/>
          </a:solidFill>
          <a:ln w="9525">
            <a:solidFill>
              <a:srgbClr val="E9E3DF"/>
            </a:solidFill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CD7F683-8488-46A1-9909-BA3928601D95}"/>
              </a:ext>
            </a:extLst>
          </p:cNvPr>
          <p:cNvSpPr>
            <a:spLocks noGrp="1"/>
          </p:cNvSpPr>
          <p:nvPr/>
        </p:nvSpPr>
        <p:spPr>
          <a:xfrm>
            <a:off x="3924300" y="5172075"/>
            <a:ext cx="74390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assign animation =</a:t>
            </a:r>
          </a:p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   (r_mode == PAUSE) &amp;&amp;</a:t>
            </a:r>
          </a:p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   (r_idle_counter == 300_000_000) &amp;&amp;</a:t>
            </a:r>
          </a:p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   !w_btn_pressed;</a:t>
            </a:r>
          </a:p>
        </p:txBody>
      </p:sp>
    </p:spTree>
    <p:extLst>
      <p:ext uri="{BB962C8B-B14F-4D97-AF65-F5344CB8AC3E}">
        <p14:creationId xmlns:p14="http://schemas.microsoft.com/office/powerpoint/2010/main" val="810160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32E3728-F5B9-456B-8EF1-1B66E3081B56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02 구현 내용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BAE297D-6491-405E-A876-95704BDD2B6B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FND 표시와 PAUSE 애니메이션</a:t>
            </a:r>
          </a:p>
        </p:txBody>
      </p:sp>
      <p:sp>
        <p:nvSpPr>
          <p:cNvPr id="4" name="자유형 3">
            <a:extLst>
              <a:ext uri="{FF2B5EF4-FFF2-40B4-BE49-F238E27FC236}">
                <a16:creationId xmlns:a16="http://schemas.microsoft.com/office/drawing/2014/main" id="{0F40D372-1251-4088-B1C0-7BCA50039713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C5C1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80AFE7-802C-4ECB-BFF8-3D6505A446D8}"/>
              </a:ext>
            </a:extLst>
          </p:cNvPr>
          <p:cNvSpPr>
            <a:spLocks noGrp="1"/>
          </p:cNvSpPr>
          <p:nvPr/>
        </p:nvSpPr>
        <p:spPr>
          <a:xfrm>
            <a:off x="11096625" y="64389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BC684C-2CEF-457F-96CF-2D3EFF69A27E}"/>
              </a:ext>
            </a:extLst>
          </p:cNvPr>
          <p:cNvSpPr>
            <a:spLocks noGrp="1"/>
          </p:cNvSpPr>
          <p:nvPr/>
        </p:nvSpPr>
        <p:spPr>
          <a:xfrm>
            <a:off x="8334375" y="1952625"/>
            <a:ext cx="31908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FND 표시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26A2DC-1040-45A1-940B-2C9E11B8507D}"/>
              </a:ext>
            </a:extLst>
          </p:cNvPr>
          <p:cNvSpPr>
            <a:spLocks noGrp="1"/>
          </p:cNvSpPr>
          <p:nvPr/>
        </p:nvSpPr>
        <p:spPr>
          <a:xfrm>
            <a:off x="8334375" y="2409825"/>
            <a:ext cx="3190875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1 </a:t>
            </a:r>
            <a:r>
              <a:rPr sz="1800" b="0" dirty="0" err="1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ms마다</a:t>
            </a:r>
            <a:r>
              <a:rPr sz="1800" b="0" dirty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한 </a:t>
            </a:r>
            <a:r>
              <a:rPr sz="1800" b="0" dirty="0" err="1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자리</a:t>
            </a:r>
            <a:r>
              <a:rPr sz="1800" b="0" dirty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선택</a:t>
            </a:r>
            <a:endParaRPr sz="1800" b="0" dirty="0">
              <a:solidFill>
                <a:srgbClr val="272728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4 </a:t>
            </a:r>
            <a:r>
              <a:rPr sz="1800" b="0" dirty="0" err="1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ms마다</a:t>
            </a:r>
            <a:r>
              <a:rPr sz="1800" b="0" dirty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전체</a:t>
            </a:r>
            <a:r>
              <a:rPr sz="1800" b="0" dirty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순환</a:t>
            </a:r>
            <a:endParaRPr sz="1800" b="0" dirty="0">
              <a:solidFill>
                <a:srgbClr val="272728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an / </a:t>
            </a:r>
            <a:r>
              <a:rPr sz="1800" b="0" dirty="0" err="1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seg는</a:t>
            </a:r>
            <a:r>
              <a:rPr sz="1800" b="0" dirty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active-low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E6026B-3458-4380-B6CB-B9E97EC5D771}"/>
              </a:ext>
            </a:extLst>
          </p:cNvPr>
          <p:cNvSpPr>
            <a:spLocks noGrp="1"/>
          </p:cNvSpPr>
          <p:nvPr/>
        </p:nvSpPr>
        <p:spPr>
          <a:xfrm>
            <a:off x="8334375" y="3905250"/>
            <a:ext cx="31908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PAUSE 애니메이션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D99D3C-609F-4371-8720-68C6709AEABB}"/>
              </a:ext>
            </a:extLst>
          </p:cNvPr>
          <p:cNvSpPr>
            <a:spLocks noGrp="1"/>
          </p:cNvSpPr>
          <p:nvPr/>
        </p:nvSpPr>
        <p:spPr>
          <a:xfrm>
            <a:off x="8334375" y="4362450"/>
            <a:ext cx="3190875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무입력 3초 후 시작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100 ms마다 a~f 순환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버튼 입력 시 해제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3" t="14815" r="3625" b="4074"/>
          <a:stretch/>
        </p:blipFill>
        <p:spPr>
          <a:xfrm>
            <a:off x="571500" y="1400175"/>
            <a:ext cx="7296151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211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0EBF8D6-7E3A-4CE0-8D8F-CACC77079F81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02 구현 내용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347320-849C-48A6-A113-7E49B72973C3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Test bench 작성</a:t>
            </a:r>
          </a:p>
        </p:txBody>
      </p:sp>
      <p:sp>
        <p:nvSpPr>
          <p:cNvPr id="4" name="자유형 3">
            <a:extLst>
              <a:ext uri="{FF2B5EF4-FFF2-40B4-BE49-F238E27FC236}">
                <a16:creationId xmlns:a16="http://schemas.microsoft.com/office/drawing/2014/main" id="{6E693F56-2634-4BF1-B5F1-C44E5ECD40A8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C5C1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20F06F-5828-4891-858A-1F3D51F7508C}"/>
              </a:ext>
            </a:extLst>
          </p:cNvPr>
          <p:cNvSpPr>
            <a:spLocks noGrp="1"/>
          </p:cNvSpPr>
          <p:nvPr/>
        </p:nvSpPr>
        <p:spPr>
          <a:xfrm>
            <a:off x="11096625" y="64389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EA4DFE-72C0-408E-83A8-F0032AFFF14C}"/>
              </a:ext>
            </a:extLst>
          </p:cNvPr>
          <p:cNvSpPr>
            <a:spLocks noGrp="1"/>
          </p:cNvSpPr>
          <p:nvPr/>
        </p:nvSpPr>
        <p:spPr>
          <a:xfrm>
            <a:off x="619125" y="1762125"/>
            <a:ext cx="6667500" cy="3762375"/>
          </a:xfrm>
          <a:prstGeom prst="rect">
            <a:avLst/>
          </a:prstGeom>
          <a:solidFill>
            <a:srgbClr val="E9E3DF"/>
          </a:solidFill>
          <a:ln w="9525">
            <a:solidFill>
              <a:srgbClr val="E9E3DF"/>
            </a:solidFill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CF0AA1-8764-4E64-9638-8BB34BBBC884}"/>
              </a:ext>
            </a:extLst>
          </p:cNvPr>
          <p:cNvSpPr>
            <a:spLocks noGrp="1"/>
          </p:cNvSpPr>
          <p:nvPr/>
        </p:nvSpPr>
        <p:spPr>
          <a:xfrm>
            <a:off x="828675" y="1933575"/>
            <a:ext cx="6248400" cy="3476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always #5 clk = ~clk;  // 100 MHz</a:t>
            </a:r>
          </a:p>
          <a:p>
            <a:endParaRPr sz="1575" b="0">
              <a:solidFill>
                <a:srgbClr val="272728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task press_button;</a:t>
            </a:r>
          </a:p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   input [2:0] button;</a:t>
            </a:r>
          </a:p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   begin</a:t>
            </a:r>
          </a:p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       @(negedge clk);</a:t>
            </a:r>
          </a:p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       btn = button;</a:t>
            </a:r>
          </a:p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       repeat (2) @(negedge clk);</a:t>
            </a:r>
          </a:p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       btn = 0;</a:t>
            </a:r>
          </a:p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   end</a:t>
            </a:r>
          </a:p>
          <a:p>
            <a:pPr>
              <a:buNone/>
              <a:def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endtask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9D9F524-11C5-426F-9B13-E2C86AE61010}"/>
              </a:ext>
            </a:extLst>
          </p:cNvPr>
          <p:cNvSpPr>
            <a:spLocks noGrp="1"/>
          </p:cNvSpPr>
          <p:nvPr/>
        </p:nvSpPr>
        <p:spPr>
          <a:xfrm>
            <a:off x="7810500" y="1857375"/>
            <a:ext cx="36671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테스트 대상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71987E-D1EE-47F2-91F1-57BA076D486F}"/>
              </a:ext>
            </a:extLst>
          </p:cNvPr>
          <p:cNvSpPr>
            <a:spLocks noGrp="1"/>
          </p:cNvSpPr>
          <p:nvPr/>
        </p:nvSpPr>
        <p:spPr>
          <a:xfrm>
            <a:off x="7810500" y="2314575"/>
            <a:ext cx="3667125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main_controller</a:t>
            </a:r>
            <a:r>
              <a:rPr sz="1800" b="0" dirty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단독</a:t>
            </a:r>
            <a:r>
              <a:rPr sz="1800" b="0" dirty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검증</a:t>
            </a:r>
            <a:endParaRPr sz="1800" b="0" dirty="0">
              <a:solidFill>
                <a:srgbClr val="272728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디바운싱</a:t>
            </a:r>
            <a:r>
              <a:rPr sz="1800" b="0" dirty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완료</a:t>
            </a:r>
            <a:r>
              <a:rPr sz="1800" b="0" dirty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버튼</a:t>
            </a:r>
            <a:r>
              <a:rPr sz="1800" b="0" dirty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입력을</a:t>
            </a:r>
            <a:r>
              <a:rPr sz="1800" b="0" dirty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가정</a:t>
            </a:r>
            <a:endParaRPr sz="1800" b="0" dirty="0">
              <a:solidFill>
                <a:srgbClr val="27272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861EF9-DF70-4106-93BF-4343A9DF7855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36671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자극 방식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2848B6-54D3-42C4-8754-BBB0FEE5B707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3667125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하강 엣지에서 버튼 입력 변경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20 ns 유지 후 해제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상승 에지 샘플링과 경합 방지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C09B1F3-CBF8-4076-AF2F-85FC09A3641C}"/>
              </a:ext>
            </a:extLst>
          </p:cNvPr>
          <p:cNvSpPr>
            <a:spLocks noGrp="1"/>
          </p:cNvSpPr>
          <p:nvPr/>
        </p:nvSpPr>
        <p:spPr>
          <a:xfrm>
            <a:off x="619125" y="585787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가속 검증: 내부 카운터를 종료값 직전으로 설정해 대기 시간 생략</a:t>
            </a:r>
          </a:p>
        </p:txBody>
      </p:sp>
    </p:spTree>
    <p:extLst>
      <p:ext uri="{BB962C8B-B14F-4D97-AF65-F5344CB8AC3E}">
        <p14:creationId xmlns:p14="http://schemas.microsoft.com/office/powerpoint/2010/main" val="236043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14ADE50-32D4-4CAC-BB00-A0183149AD39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02 구현 내용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6E3AA9-E9FB-45C7-ACA0-54B5FC989C97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Timing chart 분석</a:t>
            </a:r>
          </a:p>
        </p:txBody>
      </p:sp>
      <p:sp>
        <p:nvSpPr>
          <p:cNvPr id="4" name="자유형 3">
            <a:extLst>
              <a:ext uri="{FF2B5EF4-FFF2-40B4-BE49-F238E27FC236}">
                <a16:creationId xmlns:a16="http://schemas.microsoft.com/office/drawing/2014/main" id="{822ED826-3792-4443-B9BA-9311086C21C9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C5C1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81D31-A9BD-4933-A8D4-04C4CCBC7122}"/>
              </a:ext>
            </a:extLst>
          </p:cNvPr>
          <p:cNvSpPr>
            <a:spLocks noGrp="1"/>
          </p:cNvSpPr>
          <p:nvPr/>
        </p:nvSpPr>
        <p:spPr>
          <a:xfrm>
            <a:off x="11096625" y="64389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FBF35E-332C-4F5F-8100-FC92D94B3319}"/>
              </a:ext>
            </a:extLst>
          </p:cNvPr>
          <p:cNvSpPr>
            <a:spLocks noGrp="1"/>
          </p:cNvSpPr>
          <p:nvPr/>
        </p:nvSpPr>
        <p:spPr>
          <a:xfrm>
            <a:off x="1959429" y="5632023"/>
            <a:ext cx="9137196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 smtClean="0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35ns </a:t>
            </a:r>
            <a:r>
              <a:rPr sz="1725" b="1" dirty="0" err="1" smtClean="0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시작</a:t>
            </a:r>
            <a:r>
              <a:rPr sz="1725" b="1" dirty="0" smtClean="0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  65ns </a:t>
            </a:r>
            <a:r>
              <a:rPr sz="1725" b="1" dirty="0" err="1" smtClean="0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정지</a:t>
            </a:r>
            <a:r>
              <a:rPr sz="1725" b="1" dirty="0" smtClean="0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sz="1725" b="1" dirty="0" smtClean="0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    </a:t>
            </a:r>
            <a:r>
              <a:rPr sz="1725" b="1" dirty="0" smtClean="0">
                <a:latin typeface="Malgun Gothic"/>
                <a:ea typeface="Malgun Gothic"/>
                <a:cs typeface="Malgun Gothic"/>
              </a:rPr>
              <a:t>85ns </a:t>
            </a:r>
            <a:r>
              <a:rPr lang="en-US" altLang="ko-KR" sz="1725" b="1" dirty="0" smtClean="0">
                <a:latin typeface="Malgun Gothic"/>
                <a:ea typeface="Malgun Gothic"/>
                <a:cs typeface="Malgun Gothic"/>
              </a:rPr>
              <a:t>c</a:t>
            </a:r>
            <a:r>
              <a:rPr lang="en-US" altLang="ko-KR" sz="1725" b="1" dirty="0" smtClean="0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ircle </a:t>
            </a:r>
            <a:r>
              <a:rPr sz="1725" b="1" dirty="0" err="1" smtClean="0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애니메이션</a:t>
            </a:r>
            <a:r>
              <a:rPr sz="1725" b="1" dirty="0" smtClean="0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sz="1725" b="1" dirty="0" smtClean="0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1" dirty="0" smtClean="0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185 ns 재</a:t>
            </a:r>
            <a:r>
              <a:rPr lang="ko-KR" altLang="en-US" sz="1725" b="1" dirty="0" smtClean="0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개 </a:t>
            </a:r>
            <a:r>
              <a:rPr lang="en-US" altLang="ko-KR" dirty="0"/>
              <a:t>215~225 ns </a:t>
            </a:r>
            <a:r>
              <a:rPr lang="ko-KR" altLang="en-US" dirty="0"/>
              <a:t>초기화 후 재개</a:t>
            </a:r>
          </a:p>
          <a:p>
            <a: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endParaRPr sz="1725" b="1" dirty="0">
              <a:solidFill>
                <a:srgbClr val="594A46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4371"/>
            <a:ext cx="12192000" cy="4349257"/>
          </a:xfrm>
          <a:prstGeom prst="rect">
            <a:avLst/>
          </a:prstGeom>
        </p:spPr>
      </p:pic>
      <p:cxnSp>
        <p:nvCxnSpPr>
          <p:cNvPr id="10" name="직선 연결선 9"/>
          <p:cNvCxnSpPr/>
          <p:nvPr/>
        </p:nvCxnSpPr>
        <p:spPr>
          <a:xfrm flipH="1">
            <a:off x="1959429" y="1254371"/>
            <a:ext cx="18662" cy="433369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 flipH="1">
            <a:off x="3318395" y="1276350"/>
            <a:ext cx="18662" cy="433369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H="1">
            <a:off x="4000500" y="1276350"/>
            <a:ext cx="18662" cy="433369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 flipH="1">
            <a:off x="8736467" y="1262152"/>
            <a:ext cx="18662" cy="433369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H="1">
            <a:off x="8054362" y="1276350"/>
            <a:ext cx="18662" cy="431171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 flipH="1">
            <a:off x="7556500" y="1422334"/>
            <a:ext cx="8296" cy="416573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73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4BDAA7A-595B-4F61-865C-1D449D8CFEF1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02 구현 내용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15E31B2-01BF-4A03-B165-50E0A4EAB3E8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FPGA 보드 동작 동영상</a:t>
            </a:r>
          </a:p>
        </p:txBody>
      </p:sp>
      <p:sp>
        <p:nvSpPr>
          <p:cNvPr id="4" name="자유형 3">
            <a:extLst>
              <a:ext uri="{FF2B5EF4-FFF2-40B4-BE49-F238E27FC236}">
                <a16:creationId xmlns:a16="http://schemas.microsoft.com/office/drawing/2014/main" id="{6F40B41E-B0FA-48C6-951E-382CCE7837F4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C5C1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5026E25-E5BC-4330-8FCA-20E6A1023822}"/>
              </a:ext>
            </a:extLst>
          </p:cNvPr>
          <p:cNvSpPr>
            <a:spLocks noGrp="1"/>
          </p:cNvSpPr>
          <p:nvPr/>
        </p:nvSpPr>
        <p:spPr>
          <a:xfrm>
            <a:off x="11096625" y="64389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8488EA-F6B9-4149-94F1-4B81E8CE3ECD}"/>
              </a:ext>
            </a:extLst>
          </p:cNvPr>
          <p:cNvSpPr>
            <a:spLocks noGrp="1"/>
          </p:cNvSpPr>
          <p:nvPr/>
        </p:nvSpPr>
        <p:spPr>
          <a:xfrm>
            <a:off x="8686800" y="1809750"/>
            <a:ext cx="25241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dirty="0" err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Basys</a:t>
            </a:r>
            <a:r>
              <a:rPr sz="2025" b="1" dirty="0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 3 </a:t>
            </a:r>
            <a:r>
              <a:rPr sz="2025" b="1" dirty="0" err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시연</a:t>
            </a:r>
            <a:endParaRPr sz="2025" b="1" dirty="0">
              <a:solidFill>
                <a:srgbClr val="594A46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6" name="20261022_15412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 rot="16200000">
            <a:off x="2346325" y="323850"/>
            <a:ext cx="3886200" cy="6858000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8604250" y="2171700"/>
            <a:ext cx="291465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1.</a:t>
            </a:r>
            <a:r>
              <a:rPr lang="ko-KR" altLang="en-US" sz="1400" dirty="0" smtClean="0"/>
              <a:t>분</a:t>
            </a:r>
            <a:r>
              <a:rPr lang="en-US" altLang="ko-KR" sz="1400" dirty="0" smtClean="0"/>
              <a:t>·</a:t>
            </a:r>
            <a:r>
              <a:rPr lang="ko-KR" altLang="en-US" sz="1400" dirty="0" smtClean="0"/>
              <a:t>초 시계 </a:t>
            </a:r>
            <a:r>
              <a:rPr lang="en-US" altLang="ko-KR" sz="1400" dirty="0" smtClean="0"/>
              <a:t> </a:t>
            </a:r>
          </a:p>
          <a:p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</a:rPr>
              <a:t>시간 증가 및 점멸 표시</a:t>
            </a:r>
            <a:endParaRPr lang="en-US" altLang="ko-KR" sz="1200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ko-KR" sz="1400" dirty="0" smtClean="0"/>
              <a:t>2.</a:t>
            </a:r>
            <a:r>
              <a:rPr lang="ko-KR" altLang="en-US" sz="1400" dirty="0" smtClean="0"/>
              <a:t>스톱워치 시작 </a:t>
            </a:r>
            <a:endParaRPr lang="en-US" altLang="ko-KR" sz="1400" dirty="0" smtClean="0"/>
          </a:p>
          <a:p>
            <a:r>
              <a:rPr lang="en-US" altLang="ko-KR" sz="1200" dirty="0" smtClean="0">
                <a:solidFill>
                  <a:schemeClr val="bg1">
                    <a:lumMod val="65000"/>
                  </a:schemeClr>
                </a:solidFill>
              </a:rPr>
              <a:t>Left 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</a:rPr>
              <a:t>버튼으로 모드 전환</a:t>
            </a:r>
          </a:p>
          <a:p>
            <a:r>
              <a:rPr lang="en-US" altLang="ko-KR" sz="1400" dirty="0" smtClean="0"/>
              <a:t>3.</a:t>
            </a:r>
            <a:r>
              <a:rPr lang="ko-KR" altLang="en-US" sz="1400" dirty="0" smtClean="0"/>
              <a:t>일시정지 </a:t>
            </a:r>
            <a:endParaRPr lang="en-US" altLang="ko-KR" sz="1400" dirty="0"/>
          </a:p>
          <a:p>
            <a:r>
              <a:rPr lang="en-US" altLang="ko-KR" sz="1200" dirty="0" smtClean="0">
                <a:solidFill>
                  <a:schemeClr val="bg1">
                    <a:lumMod val="65000"/>
                  </a:schemeClr>
                </a:solidFill>
              </a:rPr>
              <a:t>Right 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</a:rPr>
              <a:t>버튼으로 측정값 유지</a:t>
            </a:r>
            <a:endParaRPr lang="en-US" altLang="ko-KR" sz="1200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ko-KR" sz="1400" dirty="0" smtClean="0"/>
              <a:t>4.</a:t>
            </a:r>
            <a:r>
              <a:rPr lang="ko-KR" altLang="en-US" sz="1400" dirty="0" smtClean="0"/>
              <a:t>애니메이션 </a:t>
            </a:r>
            <a:endParaRPr lang="en-US" altLang="ko-KR" sz="1400" dirty="0"/>
          </a:p>
          <a:p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</a:rPr>
              <a:t>정지 후 </a:t>
            </a:r>
            <a:r>
              <a:rPr lang="en-US" altLang="ko-KR" sz="1200" dirty="0" smtClean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</a:rPr>
              <a:t>초간 </a:t>
            </a:r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</a:rPr>
              <a:t>무입력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</a:rPr>
              <a:t> 시 실행</a:t>
            </a:r>
            <a:endParaRPr lang="en-US" altLang="ko-KR" sz="1200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ko-KR" sz="1400" dirty="0" smtClean="0"/>
              <a:t>5.</a:t>
            </a:r>
            <a:r>
              <a:rPr lang="ko-KR" altLang="en-US" sz="1400" dirty="0" smtClean="0"/>
              <a:t>측정 재개</a:t>
            </a:r>
            <a:endParaRPr lang="en-US" altLang="ko-KR" sz="1400" dirty="0" smtClean="0"/>
          </a:p>
          <a:p>
            <a:r>
              <a:rPr lang="en-US" altLang="ko-KR" sz="1200" dirty="0" smtClean="0">
                <a:solidFill>
                  <a:schemeClr val="bg1">
                    <a:lumMod val="65000"/>
                  </a:schemeClr>
                </a:solidFill>
              </a:rPr>
              <a:t>Right 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</a:rPr>
              <a:t>버튼으로 카운트 재개</a:t>
            </a:r>
          </a:p>
          <a:p>
            <a:r>
              <a:rPr lang="en-US" altLang="ko-KR" sz="1400" dirty="0" smtClean="0"/>
              <a:t>6.</a:t>
            </a:r>
            <a:r>
              <a:rPr lang="ko-KR" altLang="en-US" sz="1400" dirty="0" smtClean="0"/>
              <a:t>초기화 </a:t>
            </a:r>
            <a:endParaRPr lang="en-US" altLang="ko-KR" sz="1400" dirty="0"/>
          </a:p>
          <a:p>
            <a:r>
              <a:rPr lang="en-US" altLang="ko-KR" sz="1200" dirty="0" smtClean="0">
                <a:solidFill>
                  <a:schemeClr val="bg1">
                    <a:lumMod val="65000"/>
                  </a:schemeClr>
                </a:solidFill>
              </a:rPr>
              <a:t>Center 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</a:rPr>
              <a:t>버튼으로 </a:t>
            </a:r>
            <a:r>
              <a:rPr lang="en-US" altLang="ko-KR" sz="1200" dirty="0" smtClean="0">
                <a:solidFill>
                  <a:schemeClr val="bg1">
                    <a:lumMod val="65000"/>
                  </a:schemeClr>
                </a:solidFill>
              </a:rPr>
              <a:t>0000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</a:rPr>
              <a:t>부터 다시 측정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62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3765297-B296-4CB9-95F6-BE713AF336BC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03 Trouble shooting 및 구현 후기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253F21-5182-413F-89B6-FED0EBCC8E2F}"/>
              </a:ext>
            </a:extLst>
          </p:cNvPr>
          <p:cNvSpPr>
            <a:spLocks noGrp="1"/>
          </p:cNvSpPr>
          <p:nvPr/>
        </p:nvSpPr>
        <p:spPr>
          <a:xfrm>
            <a:off x="11096625" y="64389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FADC13-1901-4AB8-A68D-EC916437276C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Trouble shooting</a:t>
            </a:r>
          </a:p>
        </p:txBody>
      </p:sp>
      <p:sp>
        <p:nvSpPr>
          <p:cNvPr id="15" name="자유형 14">
            <a:extLst>
              <a:ext uri="{FF2B5EF4-FFF2-40B4-BE49-F238E27FC236}">
                <a16:creationId xmlns:a16="http://schemas.microsoft.com/office/drawing/2014/main" id="{25D10FFF-D9CC-4633-825B-A6E2368D1EE8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C5C1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5116997-7AD5-4308-8468-A565C324375D}"/>
              </a:ext>
            </a:extLst>
          </p:cNvPr>
          <p:cNvSpPr>
            <a:spLocks noGrp="1"/>
          </p:cNvSpPr>
          <p:nvPr/>
        </p:nvSpPr>
        <p:spPr>
          <a:xfrm>
            <a:off x="619125" y="1762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01  일시정지 후 애니메이션 미동작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E65C54-49D7-40D3-AAD9-8772D090525D}"/>
              </a:ext>
            </a:extLst>
          </p:cNvPr>
          <p:cNvSpPr>
            <a:spLocks noGrp="1"/>
          </p:cNvSpPr>
          <p:nvPr/>
        </p:nvSpPr>
        <p:spPr>
          <a:xfrm>
            <a:off x="619125" y="238125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A9699D3-4B95-48B5-91D8-8CBD6BEC35AE}"/>
              </a:ext>
            </a:extLst>
          </p:cNvPr>
          <p:cNvSpPr>
            <a:spLocks noGrp="1"/>
          </p:cNvSpPr>
          <p:nvPr/>
        </p:nvSpPr>
        <p:spPr>
          <a:xfrm>
            <a:off x="1809750" y="2381250"/>
            <a:ext cx="9715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PAUSE 상태에서 3초가 지나도 애니메이션이 실행되지 않음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A42C5F3-2B9D-46D6-B447-5F7275464642}"/>
              </a:ext>
            </a:extLst>
          </p:cNvPr>
          <p:cNvSpPr>
            <a:spLocks noGrp="1"/>
          </p:cNvSpPr>
          <p:nvPr/>
        </p:nvSpPr>
        <p:spPr>
          <a:xfrm>
            <a:off x="619125" y="28575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5C29629-A929-4CB5-9B19-70A484C95D32}"/>
              </a:ext>
            </a:extLst>
          </p:cNvPr>
          <p:cNvSpPr>
            <a:spLocks noGrp="1"/>
          </p:cNvSpPr>
          <p:nvPr/>
        </p:nvSpPr>
        <p:spPr>
          <a:xfrm>
            <a:off x="1809750" y="2857500"/>
            <a:ext cx="97155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animation 출력과 w_animation 대입 이름 불일치</a:t>
            </a:r>
          </a:p>
          <a:p>
            <a: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단계 입력을 실제 레지스터 r_anim_step에 연결하지 않음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A52B373-7C82-4D2D-A1E4-313701255AB5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해결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2884F0B-DD6D-4C46-B12C-E52E17EB1C3C}"/>
              </a:ext>
            </a:extLst>
          </p:cNvPr>
          <p:cNvSpPr>
            <a:spLocks noGrp="1"/>
          </p:cNvSpPr>
          <p:nvPr/>
        </p:nvSpPr>
        <p:spPr>
          <a:xfrm>
            <a:off x="1809750" y="3619500"/>
            <a:ext cx="9715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출력 이름 통일 + .anim_step(r_anim_step) 수정 + FND까지 연결</a:t>
            </a:r>
          </a:p>
        </p:txBody>
      </p:sp>
      <p:sp>
        <p:nvSpPr>
          <p:cNvPr id="23" name="자유형 22">
            <a:extLst>
              <a:ext uri="{FF2B5EF4-FFF2-40B4-BE49-F238E27FC236}">
                <a16:creationId xmlns:a16="http://schemas.microsoft.com/office/drawing/2014/main" id="{32AC0045-F6C2-429C-90F0-93833FD00E19}"/>
              </a:ext>
            </a:extLst>
          </p:cNvPr>
          <p:cNvSpPr>
            <a:spLocks noGrp="1"/>
          </p:cNvSpPr>
          <p:nvPr/>
        </p:nvSpPr>
        <p:spPr>
          <a:xfrm>
            <a:off x="619125" y="4143375"/>
            <a:ext cx="10906125" cy="9525"/>
          </a:xfrm>
          <a:custGeom>
            <a:avLst/>
            <a:gdLst/>
            <a:ahLst/>
            <a:cxnLst/>
            <a:rect l="0" t="0" r="0" b="0"/>
            <a:pathLst>
              <a:path w="10906125" h="9525">
                <a:moveTo>
                  <a:pt x="0" y="0"/>
                </a:moveTo>
                <a:lnTo>
                  <a:pt x="10906125" y="0"/>
                </a:lnTo>
              </a:path>
            </a:pathLst>
          </a:custGeom>
          <a:noFill/>
          <a:ln w="9525">
            <a:solidFill>
              <a:srgbClr val="CBC5C1"/>
            </a:solidFill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DC52A6-90D7-463E-9BFD-BD5C16CFAF71}"/>
              </a:ext>
            </a:extLst>
          </p:cNvPr>
          <p:cNvSpPr>
            <a:spLocks noGrp="1"/>
          </p:cNvSpPr>
          <p:nvPr/>
        </p:nvSpPr>
        <p:spPr>
          <a:xfrm>
            <a:off x="619125" y="4381500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02  스톱워치 초기화 및 자동 복귀 오류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F0C22DE-4692-42C7-9A08-130D9E349CAB}"/>
              </a:ext>
            </a:extLst>
          </p:cNvPr>
          <p:cNvSpPr>
            <a:spLocks noGrp="1"/>
          </p:cNvSpPr>
          <p:nvPr/>
        </p:nvSpPr>
        <p:spPr>
          <a:xfrm>
            <a:off x="619125" y="49530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DC284A9-65DE-4C24-8355-91A38864593F}"/>
              </a:ext>
            </a:extLst>
          </p:cNvPr>
          <p:cNvSpPr>
            <a:spLocks noGrp="1"/>
          </p:cNvSpPr>
          <p:nvPr/>
        </p:nvSpPr>
        <p:spPr>
          <a:xfrm>
            <a:off x="1809750" y="4953000"/>
            <a:ext cx="9715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RESET 상태의 카운터 초기화와 실행 상태 복귀 처리 누락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B3C6DFC-9415-4409-84C7-B97F11F226CF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A556814-7112-4270-B93B-966EDDFEFB32}"/>
              </a:ext>
            </a:extLst>
          </p:cNvPr>
          <p:cNvSpPr>
            <a:spLocks noGrp="1"/>
          </p:cNvSpPr>
          <p:nvPr/>
        </p:nvSpPr>
        <p:spPr>
          <a:xfrm>
            <a:off x="1809750" y="5353050"/>
            <a:ext cx="9715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reset 입력과 RESET 상태 혼동, 복귀 검사를 버튼 조건 안에 작성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C56900E-EB94-4893-B187-B43D120FEA2C}"/>
              </a:ext>
            </a:extLst>
          </p:cNvPr>
          <p:cNvSpPr>
            <a:spLocks noGrp="1"/>
          </p:cNvSpPr>
          <p:nvPr/>
        </p:nvSpPr>
        <p:spPr>
          <a:xfrm>
            <a:off x="619125" y="57531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해결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C6703EE-5DA9-4CC4-B8E1-9495A0943623}"/>
              </a:ext>
            </a:extLst>
          </p:cNvPr>
          <p:cNvSpPr>
            <a:spLocks noGrp="1"/>
          </p:cNvSpPr>
          <p:nvPr/>
        </p:nvSpPr>
        <p:spPr>
          <a:xfrm>
            <a:off x="1809750" y="5753100"/>
            <a:ext cx="9715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두 카운터를 0으로 초기화하고 다음 클럭에 STOP_WATCH로 복귀</a:t>
            </a:r>
          </a:p>
        </p:txBody>
      </p:sp>
    </p:spTree>
    <p:extLst>
      <p:ext uri="{BB962C8B-B14F-4D97-AF65-F5344CB8AC3E}">
        <p14:creationId xmlns:p14="http://schemas.microsoft.com/office/powerpoint/2010/main" val="26117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E9EEA58-B993-48D9-A966-B97F927A4257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04 Background 기술 Summary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36C704E-4D9A-4933-A40E-E1185B6C84CE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Setup / Hold time</a:t>
            </a:r>
          </a:p>
        </p:txBody>
      </p:sp>
      <p:sp>
        <p:nvSpPr>
          <p:cNvPr id="4" name="자유형 3">
            <a:extLst>
              <a:ext uri="{FF2B5EF4-FFF2-40B4-BE49-F238E27FC236}">
                <a16:creationId xmlns:a16="http://schemas.microsoft.com/office/drawing/2014/main" id="{DC8BA5EC-2E31-420A-8285-33B4845FB060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C5C1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4CDF9A1-39E8-4250-9DEC-8AE0341881E0}"/>
              </a:ext>
            </a:extLst>
          </p:cNvPr>
          <p:cNvSpPr>
            <a:spLocks noGrp="1"/>
          </p:cNvSpPr>
          <p:nvPr/>
        </p:nvSpPr>
        <p:spPr>
          <a:xfrm>
            <a:off x="11096625" y="64389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256E9F-0C54-47B8-9BDD-4A3B385BA859}"/>
              </a:ext>
            </a:extLst>
          </p:cNvPr>
          <p:cNvSpPr>
            <a:spLocks noGrp="1"/>
          </p:cNvSpPr>
          <p:nvPr/>
        </p:nvSpPr>
        <p:spPr>
          <a:xfrm>
            <a:off x="619125" y="1685925"/>
            <a:ext cx="10763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클럭 엣지 전후에 데이터가 안정되어야 하는 시간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1D8674-0A50-49AD-BA7E-9A3D73843485}"/>
              </a:ext>
            </a:extLst>
          </p:cNvPr>
          <p:cNvSpPr>
            <a:spLocks noGrp="1"/>
          </p:cNvSpPr>
          <p:nvPr/>
        </p:nvSpPr>
        <p:spPr>
          <a:xfrm>
            <a:off x="4857750" y="2524125"/>
            <a:ext cx="952500" cy="2190750"/>
          </a:xfrm>
          <a:prstGeom prst="rect">
            <a:avLst/>
          </a:prstGeom>
          <a:solidFill>
            <a:srgbClr val="E9E3DF"/>
          </a:solidFill>
          <a:ln w="9525">
            <a:solidFill>
              <a:srgbClr val="E9E3DF"/>
            </a:solidFill>
          </a:ln>
        </p:spPr>
      </p:sp>
      <p:sp>
        <p:nvSpPr>
          <p:cNvPr id="8" name="자유형 7">
            <a:extLst>
              <a:ext uri="{FF2B5EF4-FFF2-40B4-BE49-F238E27FC236}">
                <a16:creationId xmlns:a16="http://schemas.microsoft.com/office/drawing/2014/main" id="{49F086C8-BBFB-4499-9E11-DAF1FD503581}"/>
              </a:ext>
            </a:extLst>
          </p:cNvPr>
          <p:cNvSpPr>
            <a:spLocks noGrp="1"/>
          </p:cNvSpPr>
          <p:nvPr/>
        </p:nvSpPr>
        <p:spPr>
          <a:xfrm>
            <a:off x="5381625" y="2333625"/>
            <a:ext cx="9525" cy="2524125"/>
          </a:xfrm>
          <a:custGeom>
            <a:avLst/>
            <a:gdLst/>
            <a:ahLst/>
            <a:cxnLst/>
            <a:rect l="0" t="0" r="0" b="0"/>
            <a:pathLst>
              <a:path w="9525" h="2524125">
                <a:moveTo>
                  <a:pt x="0" y="0"/>
                </a:moveTo>
                <a:lnTo>
                  <a:pt x="0" y="2524125"/>
                </a:lnTo>
              </a:path>
            </a:pathLst>
          </a:custGeom>
          <a:noFill/>
          <a:ln w="19050">
            <a:solidFill>
              <a:srgbClr val="957A73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A4F92A-B813-47AC-8C8D-DCDAC8B1F858}"/>
              </a:ext>
            </a:extLst>
          </p:cNvPr>
          <p:cNvSpPr>
            <a:spLocks noGrp="1"/>
          </p:cNvSpPr>
          <p:nvPr/>
        </p:nvSpPr>
        <p:spPr>
          <a:xfrm>
            <a:off x="619125" y="2714625"/>
            <a:ext cx="1238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0" name="자유형 9">
            <a:extLst>
              <a:ext uri="{FF2B5EF4-FFF2-40B4-BE49-F238E27FC236}">
                <a16:creationId xmlns:a16="http://schemas.microsoft.com/office/drawing/2014/main" id="{9B6E7C79-6B66-45BA-A2EE-139F0DA854B1}"/>
              </a:ext>
            </a:extLst>
          </p:cNvPr>
          <p:cNvSpPr>
            <a:spLocks noGrp="1"/>
          </p:cNvSpPr>
          <p:nvPr/>
        </p:nvSpPr>
        <p:spPr>
          <a:xfrm>
            <a:off x="1857375" y="3095625"/>
            <a:ext cx="3524250" cy="9525"/>
          </a:xfrm>
          <a:custGeom>
            <a:avLst/>
            <a:gdLst/>
            <a:ahLst/>
            <a:cxnLst/>
            <a:rect l="0" t="0" r="0" b="0"/>
            <a:pathLst>
              <a:path w="3524250" h="9525">
                <a:moveTo>
                  <a:pt x="0" y="0"/>
                </a:moveTo>
                <a:lnTo>
                  <a:pt x="3524250" y="0"/>
                </a:lnTo>
              </a:path>
            </a:pathLst>
          </a:custGeom>
          <a:noFill/>
          <a:ln w="28575">
            <a:solidFill>
              <a:srgbClr val="594A46"/>
            </a:solidFill>
          </a:ln>
        </p:spPr>
      </p:sp>
      <p:sp>
        <p:nvSpPr>
          <p:cNvPr id="11" name="자유형 10">
            <a:extLst>
              <a:ext uri="{FF2B5EF4-FFF2-40B4-BE49-F238E27FC236}">
                <a16:creationId xmlns:a16="http://schemas.microsoft.com/office/drawing/2014/main" id="{50E2FA7D-D9D1-4BA7-9210-1A8B40F95051}"/>
              </a:ext>
            </a:extLst>
          </p:cNvPr>
          <p:cNvSpPr>
            <a:spLocks noGrp="1"/>
          </p:cNvSpPr>
          <p:nvPr/>
        </p:nvSpPr>
        <p:spPr>
          <a:xfrm>
            <a:off x="5381625" y="2619375"/>
            <a:ext cx="9525" cy="476250"/>
          </a:xfrm>
          <a:custGeom>
            <a:avLst/>
            <a:gdLst/>
            <a:ahLst/>
            <a:cxnLst/>
            <a:rect l="0" t="0" r="0" b="0"/>
            <a:pathLst>
              <a:path w="9525" h="476250">
                <a:moveTo>
                  <a:pt x="0" y="4762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594A46"/>
            </a:solidFill>
          </a:ln>
        </p:spPr>
      </p:sp>
      <p:sp>
        <p:nvSpPr>
          <p:cNvPr id="12" name="자유형 11">
            <a:extLst>
              <a:ext uri="{FF2B5EF4-FFF2-40B4-BE49-F238E27FC236}">
                <a16:creationId xmlns:a16="http://schemas.microsoft.com/office/drawing/2014/main" id="{C07DC705-D05C-42E0-BF8A-9FCA7796DB03}"/>
              </a:ext>
            </a:extLst>
          </p:cNvPr>
          <p:cNvSpPr>
            <a:spLocks noGrp="1"/>
          </p:cNvSpPr>
          <p:nvPr/>
        </p:nvSpPr>
        <p:spPr>
          <a:xfrm>
            <a:off x="5381625" y="2619375"/>
            <a:ext cx="4429125" cy="9525"/>
          </a:xfrm>
          <a:custGeom>
            <a:avLst/>
            <a:gdLst/>
            <a:ahLst/>
            <a:cxnLst/>
            <a:rect l="0" t="0" r="0" b="0"/>
            <a:pathLst>
              <a:path w="4429125" h="9525">
                <a:moveTo>
                  <a:pt x="0" y="0"/>
                </a:moveTo>
                <a:lnTo>
                  <a:pt x="4429125" y="0"/>
                </a:lnTo>
              </a:path>
            </a:pathLst>
          </a:custGeom>
          <a:noFill/>
          <a:ln w="28575">
            <a:solidFill>
              <a:srgbClr val="594A46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EC7955-A64F-48BC-943E-5472596BFE56}"/>
              </a:ext>
            </a:extLst>
          </p:cNvPr>
          <p:cNvSpPr>
            <a:spLocks noGrp="1"/>
          </p:cNvSpPr>
          <p:nvPr/>
        </p:nvSpPr>
        <p:spPr>
          <a:xfrm>
            <a:off x="619125" y="3952875"/>
            <a:ext cx="1238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14" name="자유형 13">
            <a:extLst>
              <a:ext uri="{FF2B5EF4-FFF2-40B4-BE49-F238E27FC236}">
                <a16:creationId xmlns:a16="http://schemas.microsoft.com/office/drawing/2014/main" id="{0C9485DD-07F0-421D-9E87-12051E4291C6}"/>
              </a:ext>
            </a:extLst>
          </p:cNvPr>
          <p:cNvSpPr>
            <a:spLocks noGrp="1"/>
          </p:cNvSpPr>
          <p:nvPr/>
        </p:nvSpPr>
        <p:spPr>
          <a:xfrm>
            <a:off x="1857375" y="4333875"/>
            <a:ext cx="1619250" cy="9525"/>
          </a:xfrm>
          <a:custGeom>
            <a:avLst/>
            <a:gdLst/>
            <a:ahLst/>
            <a:cxnLst/>
            <a:rect l="0" t="0" r="0" b="0"/>
            <a:pathLst>
              <a:path w="1619250" h="9525">
                <a:moveTo>
                  <a:pt x="0" y="0"/>
                </a:moveTo>
                <a:lnTo>
                  <a:pt x="1619250" y="0"/>
                </a:lnTo>
              </a:path>
            </a:pathLst>
          </a:custGeom>
          <a:noFill/>
          <a:ln w="28575">
            <a:solidFill>
              <a:srgbClr val="594A46"/>
            </a:solidFill>
          </a:ln>
        </p:spPr>
      </p:sp>
      <p:sp>
        <p:nvSpPr>
          <p:cNvPr id="15" name="자유형 14">
            <a:extLst>
              <a:ext uri="{FF2B5EF4-FFF2-40B4-BE49-F238E27FC236}">
                <a16:creationId xmlns:a16="http://schemas.microsoft.com/office/drawing/2014/main" id="{81953F5E-218F-46A3-A53A-46FD42D33B2D}"/>
              </a:ext>
            </a:extLst>
          </p:cNvPr>
          <p:cNvSpPr>
            <a:spLocks noGrp="1"/>
          </p:cNvSpPr>
          <p:nvPr/>
        </p:nvSpPr>
        <p:spPr>
          <a:xfrm>
            <a:off x="3476625" y="3857625"/>
            <a:ext cx="9525" cy="476250"/>
          </a:xfrm>
          <a:custGeom>
            <a:avLst/>
            <a:gdLst/>
            <a:ahLst/>
            <a:cxnLst/>
            <a:rect l="0" t="0" r="0" b="0"/>
            <a:pathLst>
              <a:path w="9525" h="476250">
                <a:moveTo>
                  <a:pt x="0" y="4762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594A46"/>
            </a:solidFill>
          </a:ln>
        </p:spPr>
      </p:sp>
      <p:sp>
        <p:nvSpPr>
          <p:cNvPr id="16" name="자유형 15">
            <a:extLst>
              <a:ext uri="{FF2B5EF4-FFF2-40B4-BE49-F238E27FC236}">
                <a16:creationId xmlns:a16="http://schemas.microsoft.com/office/drawing/2014/main" id="{DD06B538-7A93-4CC1-8616-69ACA0B50505}"/>
              </a:ext>
            </a:extLst>
          </p:cNvPr>
          <p:cNvSpPr>
            <a:spLocks noGrp="1"/>
          </p:cNvSpPr>
          <p:nvPr/>
        </p:nvSpPr>
        <p:spPr>
          <a:xfrm>
            <a:off x="3476625" y="3857625"/>
            <a:ext cx="4095750" cy="9525"/>
          </a:xfrm>
          <a:custGeom>
            <a:avLst/>
            <a:gdLst/>
            <a:ahLst/>
            <a:cxnLst/>
            <a:rect l="0" t="0" r="0" b="0"/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/>
          <a:ln w="28575">
            <a:solidFill>
              <a:srgbClr val="594A46"/>
            </a:solidFill>
          </a:ln>
        </p:spPr>
      </p:sp>
      <p:sp>
        <p:nvSpPr>
          <p:cNvPr id="17" name="자유형 16">
            <a:extLst>
              <a:ext uri="{FF2B5EF4-FFF2-40B4-BE49-F238E27FC236}">
                <a16:creationId xmlns:a16="http://schemas.microsoft.com/office/drawing/2014/main" id="{429D0FF4-60EA-484F-B987-BD42F2BE263C}"/>
              </a:ext>
            </a:extLst>
          </p:cNvPr>
          <p:cNvSpPr>
            <a:spLocks noGrp="1"/>
          </p:cNvSpPr>
          <p:nvPr/>
        </p:nvSpPr>
        <p:spPr>
          <a:xfrm>
            <a:off x="7572375" y="3857625"/>
            <a:ext cx="9525" cy="476250"/>
          </a:xfrm>
          <a:custGeom>
            <a:avLst/>
            <a:gdLst/>
            <a:ahLst/>
            <a:cxnLst/>
            <a:rect l="0" t="0" r="0" b="0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28575">
            <a:solidFill>
              <a:srgbClr val="594A46"/>
            </a:solidFill>
          </a:ln>
        </p:spPr>
      </p:sp>
      <p:sp>
        <p:nvSpPr>
          <p:cNvPr id="18" name="자유형 17">
            <a:extLst>
              <a:ext uri="{FF2B5EF4-FFF2-40B4-BE49-F238E27FC236}">
                <a16:creationId xmlns:a16="http://schemas.microsoft.com/office/drawing/2014/main" id="{373735C1-9FC5-41FA-A009-08F4BAD98600}"/>
              </a:ext>
            </a:extLst>
          </p:cNvPr>
          <p:cNvSpPr>
            <a:spLocks noGrp="1"/>
          </p:cNvSpPr>
          <p:nvPr/>
        </p:nvSpPr>
        <p:spPr>
          <a:xfrm>
            <a:off x="7572375" y="4333875"/>
            <a:ext cx="2238375" cy="9525"/>
          </a:xfrm>
          <a:custGeom>
            <a:avLst/>
            <a:gdLst/>
            <a:ahLst/>
            <a:cxnLst/>
            <a:rect l="0" t="0" r="0" b="0"/>
            <a:pathLst>
              <a:path w="2238375" h="9525">
                <a:moveTo>
                  <a:pt x="0" y="0"/>
                </a:moveTo>
                <a:lnTo>
                  <a:pt x="2238375" y="0"/>
                </a:lnTo>
              </a:path>
            </a:pathLst>
          </a:custGeom>
          <a:noFill/>
          <a:ln w="28575">
            <a:solidFill>
              <a:srgbClr val="594A46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8180E09-9184-4F64-9E82-0AA9A00B0D60}"/>
              </a:ext>
            </a:extLst>
          </p:cNvPr>
          <p:cNvSpPr>
            <a:spLocks noGrp="1"/>
          </p:cNvSpPr>
          <p:nvPr/>
        </p:nvSpPr>
        <p:spPr>
          <a:xfrm>
            <a:off x="7143750" y="2790825"/>
            <a:ext cx="285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샘플링 엣지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0E034D8-89BC-4C07-BE7C-5D9DE8C4ACE8}"/>
              </a:ext>
            </a:extLst>
          </p:cNvPr>
          <p:cNvSpPr>
            <a:spLocks noGrp="1"/>
          </p:cNvSpPr>
          <p:nvPr/>
        </p:nvSpPr>
        <p:spPr>
          <a:xfrm>
            <a:off x="3810000" y="4762500"/>
            <a:ext cx="285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setup: 엣지 이전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619E0A-45E4-4E08-A908-F19A0E266E00}"/>
              </a:ext>
            </a:extLst>
          </p:cNvPr>
          <p:cNvSpPr>
            <a:spLocks noGrp="1"/>
          </p:cNvSpPr>
          <p:nvPr/>
        </p:nvSpPr>
        <p:spPr>
          <a:xfrm>
            <a:off x="7000875" y="4762500"/>
            <a:ext cx="285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hold: 엣지 이후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DEC849D-6765-454C-A53F-80A351220C1F}"/>
              </a:ext>
            </a:extLst>
          </p:cNvPr>
          <p:cNvSpPr>
            <a:spLocks noGrp="1"/>
          </p:cNvSpPr>
          <p:nvPr/>
        </p:nvSpPr>
        <p:spPr>
          <a:xfrm>
            <a:off x="619125" y="5238750"/>
            <a:ext cx="48577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Setup 위반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B9A8150-2B0E-4BAF-8E6D-7520E150EC65}"/>
              </a:ext>
            </a:extLst>
          </p:cNvPr>
          <p:cNvSpPr>
            <a:spLocks noGrp="1"/>
          </p:cNvSpPr>
          <p:nvPr/>
        </p:nvSpPr>
        <p:spPr>
          <a:xfrm>
            <a:off x="619125" y="5619750"/>
            <a:ext cx="5238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늦은 데이터 도착: 파이프라인·경로 단축</a:t>
            </a:r>
          </a:p>
          <a:p>
            <a: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또는 클럭 주기 증가로 여유 확보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B1A291C-0F9F-4066-A1BC-2E7DE86BEF67}"/>
              </a:ext>
            </a:extLst>
          </p:cNvPr>
          <p:cNvSpPr>
            <a:spLocks noGrp="1"/>
          </p:cNvSpPr>
          <p:nvPr/>
        </p:nvSpPr>
        <p:spPr>
          <a:xfrm>
            <a:off x="6334125" y="5238750"/>
            <a:ext cx="49530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Hold 위반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808399E-EF6E-4C55-A55F-5BDC7EEBC909}"/>
              </a:ext>
            </a:extLst>
          </p:cNvPr>
          <p:cNvSpPr>
            <a:spLocks noGrp="1"/>
          </p:cNvSpPr>
          <p:nvPr/>
        </p:nvSpPr>
        <p:spPr>
          <a:xfrm>
            <a:off x="6334125" y="5619750"/>
            <a:ext cx="5238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너무 빠른 변화: 경로 지연 보강·배치 조정</a:t>
            </a:r>
          </a:p>
          <a:p>
            <a:pPr>
              <a:buNone/>
              <a:def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클럭 주기 증가만으로 해결되지 않음</a:t>
            </a:r>
          </a:p>
        </p:txBody>
      </p:sp>
    </p:spTree>
    <p:extLst>
      <p:ext uri="{BB962C8B-B14F-4D97-AF65-F5344CB8AC3E}">
        <p14:creationId xmlns:p14="http://schemas.microsoft.com/office/powerpoint/2010/main" val="1300549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B91C7340-E1EE-42F4-BD1C-3CCF296971E8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6715125" y="2524125"/>
            <a:ext cx="1143000" cy="0"/>
          </a:xfrm>
          <a:prstGeom prst="straightConnector1">
            <a:avLst/>
          </a:prstGeom>
          <a:ln w="19050">
            <a:solidFill>
              <a:srgbClr val="957A73"/>
            </a:solidFill>
            <a:tailEnd type="arrow" w="med" len="med"/>
          </a:ln>
        </p:spPr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434CF2CD-B33E-4F43-89C5-B761E0D95BBF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2952750" y="2524125"/>
            <a:ext cx="1095375" cy="0"/>
          </a:xfrm>
          <a:prstGeom prst="straightConnector1">
            <a:avLst/>
          </a:prstGeom>
          <a:ln w="19050">
            <a:solidFill>
              <a:srgbClr val="957A73"/>
            </a:solidFill>
            <a:tailEnd type="arrow" w="med" len="med"/>
          </a:ln>
        </p:spPr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D8E91D27-6BAF-45D0-AFD7-B600D13FDA8A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04 Background 기술 Summary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18E8F5-6754-4950-BE8A-823B6ACBF4CD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Metastability</a:t>
            </a:r>
          </a:p>
        </p:txBody>
      </p:sp>
      <p:sp>
        <p:nvSpPr>
          <p:cNvPr id="6" name="자유형 5">
            <a:extLst>
              <a:ext uri="{FF2B5EF4-FFF2-40B4-BE49-F238E27FC236}">
                <a16:creationId xmlns:a16="http://schemas.microsoft.com/office/drawing/2014/main" id="{DA112AD5-033B-4019-BEB0-C8332A602A72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C5C1"/>
            </a:solidFill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F1B9808-D822-4755-98F2-E216945E4BCA}"/>
              </a:ext>
            </a:extLst>
          </p:cNvPr>
          <p:cNvSpPr>
            <a:spLocks noGrp="1"/>
          </p:cNvSpPr>
          <p:nvPr/>
        </p:nvSpPr>
        <p:spPr>
          <a:xfrm>
            <a:off x="11096625" y="64389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B06636-572D-4B5E-B927-EC4CED7117DD}"/>
              </a:ext>
            </a:extLst>
          </p:cNvPr>
          <p:cNvSpPr>
            <a:spLocks noGrp="1"/>
          </p:cNvSpPr>
          <p:nvPr/>
        </p:nvSpPr>
        <p:spPr>
          <a:xfrm>
            <a:off x="619125" y="2095500"/>
            <a:ext cx="233362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957A73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BA1419-087B-419C-9C04-1451CB0BBDF4}"/>
              </a:ext>
            </a:extLst>
          </p:cNvPr>
          <p:cNvSpPr>
            <a:spLocks noGrp="1"/>
          </p:cNvSpPr>
          <p:nvPr/>
        </p:nvSpPr>
        <p:spPr>
          <a:xfrm>
            <a:off x="733425" y="2247900"/>
            <a:ext cx="21050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비동기 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5F63A7F-104C-47AF-981D-FE8F48B979E6}"/>
              </a:ext>
            </a:extLst>
          </p:cNvPr>
          <p:cNvSpPr>
            <a:spLocks noGrp="1"/>
          </p:cNvSpPr>
          <p:nvPr/>
        </p:nvSpPr>
        <p:spPr>
          <a:xfrm>
            <a:off x="4048125" y="2095500"/>
            <a:ext cx="2667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957A73"/>
            </a:solidFill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31E9ACE-B79B-44C2-8D61-4E27DBA42632}"/>
              </a:ext>
            </a:extLst>
          </p:cNvPr>
          <p:cNvSpPr>
            <a:spLocks noGrp="1"/>
          </p:cNvSpPr>
          <p:nvPr/>
        </p:nvSpPr>
        <p:spPr>
          <a:xfrm>
            <a:off x="4162425" y="2247900"/>
            <a:ext cx="24384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FF1</a:t>
            </a:r>
          </a:p>
          <a:p>
            <a: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불안정 가능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B90224-3C3C-46C0-9C33-4A9B217EFBD2}"/>
              </a:ext>
            </a:extLst>
          </p:cNvPr>
          <p:cNvSpPr>
            <a:spLocks noGrp="1"/>
          </p:cNvSpPr>
          <p:nvPr/>
        </p:nvSpPr>
        <p:spPr>
          <a:xfrm>
            <a:off x="7858125" y="2095500"/>
            <a:ext cx="357187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957A73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C2F8E74-9D98-4B26-96B1-439F67CF48FE}"/>
              </a:ext>
            </a:extLst>
          </p:cNvPr>
          <p:cNvSpPr>
            <a:spLocks noGrp="1"/>
          </p:cNvSpPr>
          <p:nvPr/>
        </p:nvSpPr>
        <p:spPr>
          <a:xfrm>
            <a:off x="7972425" y="2247900"/>
            <a:ext cx="33432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FF2</a:t>
            </a:r>
          </a:p>
          <a:p>
            <a: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다음 클럭에서 포착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675884-AC18-4828-8C70-1201FAD6ED20}"/>
              </a:ext>
            </a:extLst>
          </p:cNvPr>
          <p:cNvSpPr>
            <a:spLocks noGrp="1"/>
          </p:cNvSpPr>
          <p:nvPr/>
        </p:nvSpPr>
        <p:spPr>
          <a:xfrm>
            <a:off x="4524375" y="323850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75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안정화 시간 확보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0A9CDDE-CD1A-40D8-BE15-1CB07DAA11BA}"/>
              </a:ext>
            </a:extLst>
          </p:cNvPr>
          <p:cNvSpPr>
            <a:spLocks noGrp="1"/>
          </p:cNvSpPr>
          <p:nvPr/>
        </p:nvSpPr>
        <p:spPr>
          <a:xfrm>
            <a:off x="619125" y="404812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원인과 문제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EEB5A1A-3FFB-492F-A6C6-C21A40C5AD2B}"/>
              </a:ext>
            </a:extLst>
          </p:cNvPr>
          <p:cNvSpPr>
            <a:spLocks noGrp="1"/>
          </p:cNvSpPr>
          <p:nvPr/>
        </p:nvSpPr>
        <p:spPr>
          <a:xfrm>
            <a:off x="619125" y="4505325"/>
            <a:ext cx="523875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비동기 입력이 샘플링 엣지 근처에서 변하면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setup / hold 조건을 위반할 수 있다.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FF 출력의 안정화가 늦어져 후단 판단이 달라진다.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51BBE8A-F5D5-4FD6-B0D5-6119CB23E2E3}"/>
              </a:ext>
            </a:extLst>
          </p:cNvPr>
          <p:cNvSpPr>
            <a:spLocks noGrp="1"/>
          </p:cNvSpPr>
          <p:nvPr/>
        </p:nvSpPr>
        <p:spPr>
          <a:xfrm>
            <a:off x="6334125" y="404812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해결 방법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598AE30-04E9-43A6-BF8E-16EB43DED668}"/>
              </a:ext>
            </a:extLst>
          </p:cNvPr>
          <p:cNvSpPr>
            <a:spLocks noGrp="1"/>
          </p:cNvSpPr>
          <p:nvPr/>
        </p:nvSpPr>
        <p:spPr>
          <a:xfrm>
            <a:off x="6334125" y="4505325"/>
            <a:ext cx="523875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단일 비트 제어: 2단 이상 동기화기 사용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다중 비트 데이터: 핸드셰이크 또는 비동기 FIFO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동기화 FF 간 조합 논리를 피하고 가깝게 배치</a:t>
            </a:r>
          </a:p>
        </p:txBody>
      </p:sp>
    </p:spTree>
    <p:extLst>
      <p:ext uri="{BB962C8B-B14F-4D97-AF65-F5344CB8AC3E}">
        <p14:creationId xmlns:p14="http://schemas.microsoft.com/office/powerpoint/2010/main" val="2067062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28D5047-EFB7-4AC6-A81D-77D8804CCBDC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04 Background 기술 Summary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B3CD4A3-E0C3-44A3-AFA6-4BB7411B5577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Glitch</a:t>
            </a:r>
          </a:p>
        </p:txBody>
      </p:sp>
      <p:sp>
        <p:nvSpPr>
          <p:cNvPr id="4" name="자유형 3">
            <a:extLst>
              <a:ext uri="{FF2B5EF4-FFF2-40B4-BE49-F238E27FC236}">
                <a16:creationId xmlns:a16="http://schemas.microsoft.com/office/drawing/2014/main" id="{E5EA51B5-1A88-4A73-AE99-993936D4CA1A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C5C1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686F34-FB3E-4FAD-B13C-E4B400E99DBB}"/>
              </a:ext>
            </a:extLst>
          </p:cNvPr>
          <p:cNvSpPr>
            <a:spLocks noGrp="1"/>
          </p:cNvSpPr>
          <p:nvPr/>
        </p:nvSpPr>
        <p:spPr>
          <a:xfrm>
            <a:off x="11096625" y="64389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D8202B0-5AFD-41AF-9925-02CA5B0DC7EC}"/>
              </a:ext>
            </a:extLst>
          </p:cNvPr>
          <p:cNvSpPr>
            <a:spLocks noGrp="1"/>
          </p:cNvSpPr>
          <p:nvPr/>
        </p:nvSpPr>
        <p:spPr>
          <a:xfrm>
            <a:off x="619125" y="16954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논리값이 바뀌는 과정에서 잠깐 나타나는 불필요한 펄스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F7C489-BAE4-44A4-8083-2C413FD90B07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의도한 출력</a:t>
            </a:r>
          </a:p>
        </p:txBody>
      </p:sp>
      <p:sp>
        <p:nvSpPr>
          <p:cNvPr id="8" name="자유형 7">
            <a:extLst>
              <a:ext uri="{FF2B5EF4-FFF2-40B4-BE49-F238E27FC236}">
                <a16:creationId xmlns:a16="http://schemas.microsoft.com/office/drawing/2014/main" id="{E6BB33F7-9809-452A-8304-EBFA3639E4B5}"/>
              </a:ext>
            </a:extLst>
          </p:cNvPr>
          <p:cNvSpPr>
            <a:spLocks noGrp="1"/>
          </p:cNvSpPr>
          <p:nvPr/>
        </p:nvSpPr>
        <p:spPr>
          <a:xfrm>
            <a:off x="3000375" y="2857500"/>
            <a:ext cx="8143875" cy="9525"/>
          </a:xfrm>
          <a:custGeom>
            <a:avLst/>
            <a:gdLst/>
            <a:ahLst/>
            <a:cxnLst/>
            <a:rect l="0" t="0" r="0" b="0"/>
            <a:pathLst>
              <a:path w="8143875" h="9525">
                <a:moveTo>
                  <a:pt x="0" y="0"/>
                </a:moveTo>
                <a:lnTo>
                  <a:pt x="8143875" y="0"/>
                </a:lnTo>
              </a:path>
            </a:pathLst>
          </a:custGeom>
          <a:noFill/>
          <a:ln w="28575">
            <a:solidFill>
              <a:srgbClr val="594A46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7A5479-08C4-464E-8DEB-CC95678BEB3B}"/>
              </a:ext>
            </a:extLst>
          </p:cNvPr>
          <p:cNvSpPr>
            <a:spLocks noGrp="1"/>
          </p:cNvSpPr>
          <p:nvPr/>
        </p:nvSpPr>
        <p:spPr>
          <a:xfrm>
            <a:off x="619125" y="357187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실제 조합 출력</a:t>
            </a:r>
          </a:p>
        </p:txBody>
      </p:sp>
      <p:sp>
        <p:nvSpPr>
          <p:cNvPr id="10" name="자유형 9">
            <a:extLst>
              <a:ext uri="{FF2B5EF4-FFF2-40B4-BE49-F238E27FC236}">
                <a16:creationId xmlns:a16="http://schemas.microsoft.com/office/drawing/2014/main" id="{F178D059-480F-463D-B677-998DFC1D13DF}"/>
              </a:ext>
            </a:extLst>
          </p:cNvPr>
          <p:cNvSpPr>
            <a:spLocks noGrp="1"/>
          </p:cNvSpPr>
          <p:nvPr/>
        </p:nvSpPr>
        <p:spPr>
          <a:xfrm>
            <a:off x="3000375" y="3905250"/>
            <a:ext cx="3381375" cy="9525"/>
          </a:xfrm>
          <a:custGeom>
            <a:avLst/>
            <a:gdLst/>
            <a:ahLst/>
            <a:cxnLst/>
            <a:rect l="0" t="0" r="0" b="0"/>
            <a:pathLst>
              <a:path w="3381375" h="9525">
                <a:moveTo>
                  <a:pt x="0" y="0"/>
                </a:moveTo>
                <a:lnTo>
                  <a:pt x="3381375" y="0"/>
                </a:lnTo>
              </a:path>
            </a:pathLst>
          </a:custGeom>
          <a:noFill/>
          <a:ln w="28575">
            <a:solidFill>
              <a:srgbClr val="594A46"/>
            </a:solidFill>
          </a:ln>
        </p:spPr>
      </p:sp>
      <p:sp>
        <p:nvSpPr>
          <p:cNvPr id="11" name="자유형 10">
            <a:extLst>
              <a:ext uri="{FF2B5EF4-FFF2-40B4-BE49-F238E27FC236}">
                <a16:creationId xmlns:a16="http://schemas.microsoft.com/office/drawing/2014/main" id="{F8FC80B9-82A9-40E0-BC42-ADE7598F50B5}"/>
              </a:ext>
            </a:extLst>
          </p:cNvPr>
          <p:cNvSpPr>
            <a:spLocks noGrp="1"/>
          </p:cNvSpPr>
          <p:nvPr/>
        </p:nvSpPr>
        <p:spPr>
          <a:xfrm>
            <a:off x="6381750" y="3381375"/>
            <a:ext cx="9525" cy="523875"/>
          </a:xfrm>
          <a:custGeom>
            <a:avLst/>
            <a:gdLst/>
            <a:ahLst/>
            <a:cxnLst/>
            <a:rect l="0" t="0" r="0" b="0"/>
            <a:pathLst>
              <a:path w="9525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594A46"/>
            </a:solidFill>
          </a:ln>
        </p:spPr>
      </p:sp>
      <p:sp>
        <p:nvSpPr>
          <p:cNvPr id="12" name="자유형 11">
            <a:extLst>
              <a:ext uri="{FF2B5EF4-FFF2-40B4-BE49-F238E27FC236}">
                <a16:creationId xmlns:a16="http://schemas.microsoft.com/office/drawing/2014/main" id="{19B4083F-84DF-4F47-9804-43BE1B50DDB3}"/>
              </a:ext>
            </a:extLst>
          </p:cNvPr>
          <p:cNvSpPr>
            <a:spLocks noGrp="1"/>
          </p:cNvSpPr>
          <p:nvPr/>
        </p:nvSpPr>
        <p:spPr>
          <a:xfrm>
            <a:off x="6381750" y="3381375"/>
            <a:ext cx="571500" cy="9525"/>
          </a:xfrm>
          <a:custGeom>
            <a:avLst/>
            <a:gdLst/>
            <a:ahLst/>
            <a:cxnLst/>
            <a:rect l="0" t="0" r="0" b="0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594A46"/>
            </a:solidFill>
          </a:ln>
        </p:spPr>
      </p:sp>
      <p:sp>
        <p:nvSpPr>
          <p:cNvPr id="13" name="자유형 12">
            <a:extLst>
              <a:ext uri="{FF2B5EF4-FFF2-40B4-BE49-F238E27FC236}">
                <a16:creationId xmlns:a16="http://schemas.microsoft.com/office/drawing/2014/main" id="{5291ED9E-C8A9-44D7-AD5A-D4E682589070}"/>
              </a:ext>
            </a:extLst>
          </p:cNvPr>
          <p:cNvSpPr>
            <a:spLocks noGrp="1"/>
          </p:cNvSpPr>
          <p:nvPr/>
        </p:nvSpPr>
        <p:spPr>
          <a:xfrm>
            <a:off x="6953250" y="3381375"/>
            <a:ext cx="9525" cy="523875"/>
          </a:xfrm>
          <a:custGeom>
            <a:avLst/>
            <a:gdLst/>
            <a:ahLst/>
            <a:cxnLst/>
            <a:rect l="0" t="0" r="0" b="0"/>
            <a:pathLst>
              <a:path w="9525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/>
          <a:ln w="28575">
            <a:solidFill>
              <a:srgbClr val="594A46"/>
            </a:solidFill>
          </a:ln>
        </p:spPr>
      </p:sp>
      <p:sp>
        <p:nvSpPr>
          <p:cNvPr id="14" name="자유형 13">
            <a:extLst>
              <a:ext uri="{FF2B5EF4-FFF2-40B4-BE49-F238E27FC236}">
                <a16:creationId xmlns:a16="http://schemas.microsoft.com/office/drawing/2014/main" id="{53A2CFAD-3FBB-442E-B054-10B0233E1010}"/>
              </a:ext>
            </a:extLst>
          </p:cNvPr>
          <p:cNvSpPr>
            <a:spLocks noGrp="1"/>
          </p:cNvSpPr>
          <p:nvPr/>
        </p:nvSpPr>
        <p:spPr>
          <a:xfrm>
            <a:off x="6953250" y="3905250"/>
            <a:ext cx="4191000" cy="9525"/>
          </a:xfrm>
          <a:custGeom>
            <a:avLst/>
            <a:gdLst/>
            <a:ahLst/>
            <a:cxnLst/>
            <a:rect l="0" t="0" r="0" b="0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28575">
            <a:solidFill>
              <a:srgbClr val="594A46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97ABE6-96C5-45F8-8698-7EF22A1E61CD}"/>
              </a:ext>
            </a:extLst>
          </p:cNvPr>
          <p:cNvSpPr>
            <a:spLocks noGrp="1"/>
          </p:cNvSpPr>
          <p:nvPr/>
        </p:nvSpPr>
        <p:spPr>
          <a:xfrm>
            <a:off x="6191250" y="41719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650" b="0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0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0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0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0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0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0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0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0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650" b="0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경로 지연 차이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11B8598-1D99-4C2A-9F2B-97F7C68707B4}"/>
              </a:ext>
            </a:extLst>
          </p:cNvPr>
          <p:cNvSpPr>
            <a:spLocks noGrp="1"/>
          </p:cNvSpPr>
          <p:nvPr/>
        </p:nvSpPr>
        <p:spPr>
          <a:xfrm>
            <a:off x="619125" y="48577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원인과 영향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805522C-807F-41B7-82D1-45DC3265D05A}"/>
              </a:ext>
            </a:extLst>
          </p:cNvPr>
          <p:cNvSpPr>
            <a:spLocks noGrp="1"/>
          </p:cNvSpPr>
          <p:nvPr/>
        </p:nvSpPr>
        <p:spPr>
          <a:xfrm>
            <a:off x="619125" y="5314950"/>
            <a:ext cx="523875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입력이 서로 다른 경로를 거쳐 도착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짧은 펄스가 클럭·제어에 쓰이면 오동작 가능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D3942B2-98FF-4B7D-81BC-07D29945DF8A}"/>
              </a:ext>
            </a:extLst>
          </p:cNvPr>
          <p:cNvSpPr>
            <a:spLocks noGrp="1"/>
          </p:cNvSpPr>
          <p:nvPr/>
        </p:nvSpPr>
        <p:spPr>
          <a:xfrm>
            <a:off x="6334125" y="48577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해결 방법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E8CAFA8-D9D1-4739-8E15-8A7BFD8BF071}"/>
              </a:ext>
            </a:extLst>
          </p:cNvPr>
          <p:cNvSpPr>
            <a:spLocks noGrp="1"/>
          </p:cNvSpPr>
          <p:nvPr/>
        </p:nvSpPr>
        <p:spPr>
          <a:xfrm>
            <a:off x="6334125" y="5314950"/>
            <a:ext cx="523875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안정된 값을 레지스터로 포착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일반 논리로 클럭을 만들지 않고 CE 사용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필요 시 전용 glitch-free 클럭 자원 사용</a:t>
            </a:r>
          </a:p>
        </p:txBody>
      </p:sp>
    </p:spTree>
    <p:extLst>
      <p:ext uri="{BB962C8B-B14F-4D97-AF65-F5344CB8AC3E}">
        <p14:creationId xmlns:p14="http://schemas.microsoft.com/office/powerpoint/2010/main" val="828678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꺾인 연결선 1">
            <a:extLst>
              <a:ext uri="{FF2B5EF4-FFF2-40B4-BE49-F238E27FC236}">
                <a16:creationId xmlns:a16="http://schemas.microsoft.com/office/drawing/2014/main" id="{3594F024-0145-4CFB-8312-3460BDC83089}"/>
              </a:ext>
            </a:extLst>
          </p:cNvPr>
          <p:cNvCxnSpPr>
            <a:stCxn id="10" idx="3"/>
            <a:endCxn id="18" idx="1"/>
          </p:cNvCxnSpPr>
          <p:nvPr/>
        </p:nvCxnSpPr>
        <p:spPr>
          <a:xfrm>
            <a:off x="2952750" y="3333750"/>
            <a:ext cx="1905000" cy="1847850"/>
          </a:xfrm>
          <a:prstGeom prst="bentConnector3">
            <a:avLst>
              <a:gd name="adj1" fmla="val 50000"/>
            </a:avLst>
          </a:prstGeom>
          <a:ln w="19050">
            <a:solidFill>
              <a:srgbClr val="957A73"/>
            </a:solidFill>
            <a:tailEnd type="arrow" w="med" len="med"/>
          </a:ln>
        </p:spPr>
      </p:cxnSp>
      <p:cxnSp>
        <p:nvCxnSpPr>
          <p:cNvPr id="3" name="꺾인 연결선 2">
            <a:extLst>
              <a:ext uri="{FF2B5EF4-FFF2-40B4-BE49-F238E27FC236}">
                <a16:creationId xmlns:a16="http://schemas.microsoft.com/office/drawing/2014/main" id="{8DD232F0-31A3-4899-8C7D-FBB1144D029B}"/>
              </a:ext>
            </a:extLst>
          </p:cNvPr>
          <p:cNvCxnSpPr>
            <a:stCxn id="10" idx="3"/>
            <a:endCxn id="16" idx="1"/>
          </p:cNvCxnSpPr>
          <p:nvPr/>
        </p:nvCxnSpPr>
        <p:spPr>
          <a:xfrm>
            <a:off x="2952750" y="3333750"/>
            <a:ext cx="1905000" cy="819150"/>
          </a:xfrm>
          <a:prstGeom prst="bentConnector3">
            <a:avLst>
              <a:gd name="adj1" fmla="val 50000"/>
            </a:avLst>
          </a:prstGeom>
          <a:ln w="19050">
            <a:solidFill>
              <a:srgbClr val="957A73"/>
            </a:solidFill>
            <a:tailEnd type="arrow" w="med" len="med"/>
          </a:ln>
        </p:spPr>
      </p:cxnSp>
      <p:cxnSp>
        <p:nvCxnSpPr>
          <p:cNvPr id="4" name="꺾인 연결선 3">
            <a:extLst>
              <a:ext uri="{FF2B5EF4-FFF2-40B4-BE49-F238E27FC236}">
                <a16:creationId xmlns:a16="http://schemas.microsoft.com/office/drawing/2014/main" id="{9BA8ACA5-3FB5-4F65-A659-0F2B5F3C1202}"/>
              </a:ext>
            </a:extLst>
          </p:cNvPr>
          <p:cNvCxnSpPr>
            <a:stCxn id="10" idx="3"/>
            <a:endCxn id="14" idx="1"/>
          </p:cNvCxnSpPr>
          <p:nvPr/>
        </p:nvCxnSpPr>
        <p:spPr>
          <a:xfrm flipV="1">
            <a:off x="2952750" y="3124200"/>
            <a:ext cx="1905000" cy="209550"/>
          </a:xfrm>
          <a:prstGeom prst="bentConnector3">
            <a:avLst>
              <a:gd name="adj1" fmla="val 50000"/>
            </a:avLst>
          </a:prstGeom>
          <a:ln w="19050">
            <a:solidFill>
              <a:srgbClr val="957A73"/>
            </a:solidFill>
            <a:tailEnd type="arrow" w="med" len="med"/>
          </a:ln>
        </p:spPr>
      </p:cxnSp>
      <p:cxnSp>
        <p:nvCxnSpPr>
          <p:cNvPr id="5" name="꺾인 연결선 4">
            <a:extLst>
              <a:ext uri="{FF2B5EF4-FFF2-40B4-BE49-F238E27FC236}">
                <a16:creationId xmlns:a16="http://schemas.microsoft.com/office/drawing/2014/main" id="{98ED83AC-D3C4-4D88-B0F0-DADE19CF475D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 flipV="1">
            <a:off x="2952750" y="2095500"/>
            <a:ext cx="1905000" cy="1238250"/>
          </a:xfrm>
          <a:prstGeom prst="bentConnector3">
            <a:avLst>
              <a:gd name="adj1" fmla="val 50000"/>
            </a:avLst>
          </a:prstGeom>
          <a:ln w="19050">
            <a:solidFill>
              <a:srgbClr val="957A73"/>
            </a:solidFill>
            <a:tailEnd type="arrow" w="med" len="med"/>
          </a:ln>
        </p:spPr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ABFFC8-6C01-43DB-BD3C-764724A48B33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57A73"/>
                </a:solidFill>
                <a:latin typeface="Malgun Gothic"/>
                <a:ea typeface="Malgun Gothic"/>
                <a:cs typeface="Malgun Gothic"/>
              </a:rPr>
              <a:t>04 Background 기술 Summary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775F7D-10C1-4C3F-AA4F-9FD00792CEF0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Fan-out</a:t>
            </a:r>
          </a:p>
        </p:txBody>
      </p:sp>
      <p:sp>
        <p:nvSpPr>
          <p:cNvPr id="8" name="자유형 7">
            <a:extLst>
              <a:ext uri="{FF2B5EF4-FFF2-40B4-BE49-F238E27FC236}">
                <a16:creationId xmlns:a16="http://schemas.microsoft.com/office/drawing/2014/main" id="{8C4ED939-79B5-4E16-BC92-493DA4014357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C5C1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6B63B7-8DF6-4875-AD65-E2208B670383}"/>
              </a:ext>
            </a:extLst>
          </p:cNvPr>
          <p:cNvSpPr>
            <a:spLocks noGrp="1"/>
          </p:cNvSpPr>
          <p:nvPr/>
        </p:nvSpPr>
        <p:spPr>
          <a:xfrm>
            <a:off x="11096625" y="64389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96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0269B1-142D-4464-916B-35D6C450395C}"/>
              </a:ext>
            </a:extLst>
          </p:cNvPr>
          <p:cNvSpPr>
            <a:spLocks noGrp="1"/>
          </p:cNvSpPr>
          <p:nvPr/>
        </p:nvSpPr>
        <p:spPr>
          <a:xfrm>
            <a:off x="619125" y="2857500"/>
            <a:ext cx="233362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957A73"/>
            </a:solidFill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D5A358-FDB9-453C-ADE4-6A9558F5AF45}"/>
              </a:ext>
            </a:extLst>
          </p:cNvPr>
          <p:cNvSpPr>
            <a:spLocks noGrp="1"/>
          </p:cNvSpPr>
          <p:nvPr/>
        </p:nvSpPr>
        <p:spPr>
          <a:xfrm>
            <a:off x="733425" y="3009900"/>
            <a:ext cx="21050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하나의 출력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499E9E-79E2-409E-BA6A-0D966BFDF179}"/>
              </a:ext>
            </a:extLst>
          </p:cNvPr>
          <p:cNvSpPr>
            <a:spLocks noGrp="1"/>
          </p:cNvSpPr>
          <p:nvPr/>
        </p:nvSpPr>
        <p:spPr>
          <a:xfrm>
            <a:off x="4857750" y="1762125"/>
            <a:ext cx="223837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957A73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497B1A7-7D37-40AE-8BB2-3DEDE53B7CBD}"/>
              </a:ext>
            </a:extLst>
          </p:cNvPr>
          <p:cNvSpPr>
            <a:spLocks noGrp="1"/>
          </p:cNvSpPr>
          <p:nvPr/>
        </p:nvSpPr>
        <p:spPr>
          <a:xfrm>
            <a:off x="4972050" y="1914525"/>
            <a:ext cx="20097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부하 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164E44-1FF7-4CC1-A37B-0ABC693613E1}"/>
              </a:ext>
            </a:extLst>
          </p:cNvPr>
          <p:cNvSpPr>
            <a:spLocks noGrp="1"/>
          </p:cNvSpPr>
          <p:nvPr/>
        </p:nvSpPr>
        <p:spPr>
          <a:xfrm>
            <a:off x="4857750" y="2790825"/>
            <a:ext cx="223837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957A73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DCA0F7-9C07-4677-AF9F-38FE22FFB17A}"/>
              </a:ext>
            </a:extLst>
          </p:cNvPr>
          <p:cNvSpPr>
            <a:spLocks noGrp="1"/>
          </p:cNvSpPr>
          <p:nvPr/>
        </p:nvSpPr>
        <p:spPr>
          <a:xfrm>
            <a:off x="4972050" y="2943225"/>
            <a:ext cx="20097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부하 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33D8AE6-E3D4-4DB5-8C30-AFE566BE8682}"/>
              </a:ext>
            </a:extLst>
          </p:cNvPr>
          <p:cNvSpPr>
            <a:spLocks noGrp="1"/>
          </p:cNvSpPr>
          <p:nvPr/>
        </p:nvSpPr>
        <p:spPr>
          <a:xfrm>
            <a:off x="4857750" y="3819525"/>
            <a:ext cx="223837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957A73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725E5A-38C0-4B32-80B7-79B7802FEF9C}"/>
              </a:ext>
            </a:extLst>
          </p:cNvPr>
          <p:cNvSpPr>
            <a:spLocks noGrp="1"/>
          </p:cNvSpPr>
          <p:nvPr/>
        </p:nvSpPr>
        <p:spPr>
          <a:xfrm>
            <a:off x="4972050" y="3971925"/>
            <a:ext cx="20097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부하 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E7C5EF5-24D1-42D2-86AE-6C30E9F871FD}"/>
              </a:ext>
            </a:extLst>
          </p:cNvPr>
          <p:cNvSpPr>
            <a:spLocks noGrp="1"/>
          </p:cNvSpPr>
          <p:nvPr/>
        </p:nvSpPr>
        <p:spPr>
          <a:xfrm>
            <a:off x="4857750" y="4848225"/>
            <a:ext cx="223837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957A73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8D656E7-C065-4254-8377-7EF910D64434}"/>
              </a:ext>
            </a:extLst>
          </p:cNvPr>
          <p:cNvSpPr>
            <a:spLocks noGrp="1"/>
          </p:cNvSpPr>
          <p:nvPr/>
        </p:nvSpPr>
        <p:spPr>
          <a:xfrm>
            <a:off x="4972050" y="5000625"/>
            <a:ext cx="20097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부하 4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A5C9F3D-0823-452B-A9B2-623A5D06B8F3}"/>
              </a:ext>
            </a:extLst>
          </p:cNvPr>
          <p:cNvSpPr>
            <a:spLocks noGrp="1"/>
          </p:cNvSpPr>
          <p:nvPr/>
        </p:nvSpPr>
        <p:spPr>
          <a:xfrm>
            <a:off x="7858125" y="1809750"/>
            <a:ext cx="36671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정의와 문제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5782CD7-BDA8-4FD5-9E2F-70F19498DE43}"/>
              </a:ext>
            </a:extLst>
          </p:cNvPr>
          <p:cNvSpPr>
            <a:spLocks noGrp="1"/>
          </p:cNvSpPr>
          <p:nvPr/>
        </p:nvSpPr>
        <p:spPr>
          <a:xfrm>
            <a:off x="7858125" y="2266950"/>
            <a:ext cx="3667125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한 출력이 구동하는 입력의 수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부하와 배선이 증가하면 지연·슬루가 악화되고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타이밍 여유가 줄어들 수 있다.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4711D32-8FAE-4A4A-B6A8-32EC7071617E}"/>
              </a:ext>
            </a:extLst>
          </p:cNvPr>
          <p:cNvSpPr>
            <a:spLocks noGrp="1"/>
          </p:cNvSpPr>
          <p:nvPr/>
        </p:nvSpPr>
        <p:spPr>
          <a:xfrm>
            <a:off x="7858125" y="4000500"/>
            <a:ext cx="36671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94A46"/>
                </a:solidFill>
                <a:latin typeface="Malgun Gothic"/>
                <a:ea typeface="Malgun Gothic"/>
                <a:cs typeface="Malgun Gothic"/>
              </a:rPr>
              <a:t>해결 방법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B47C31B-626D-4A8A-B321-53235B06D69B}"/>
              </a:ext>
            </a:extLst>
          </p:cNvPr>
          <p:cNvSpPr>
            <a:spLocks noGrp="1"/>
          </p:cNvSpPr>
          <p:nvPr/>
        </p:nvSpPr>
        <p:spPr>
          <a:xfrm>
            <a:off x="7858125" y="4457700"/>
            <a:ext cx="3667125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버퍼와 전용 클럭망 사용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레지스터 복제와 지역별 부하 분산</a:t>
            </a:r>
          </a:p>
          <a:p>
            <a:pPr>
              <a:buNone/>
              <a:def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72728"/>
                </a:solidFill>
                <a:latin typeface="Malgun Gothic"/>
                <a:ea typeface="Malgun Gothic"/>
                <a:cs typeface="Malgun Gothic"/>
              </a:rPr>
              <a:t>고 fan-out net의 배치·배선과 STA 확인</a:t>
            </a:r>
          </a:p>
        </p:txBody>
      </p:sp>
    </p:spTree>
    <p:extLst>
      <p:ext uri="{BB962C8B-B14F-4D97-AF65-F5344CB8AC3E}">
        <p14:creationId xmlns:p14="http://schemas.microsoft.com/office/powerpoint/2010/main" val="428555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1215</Words>
  <Application>Microsoft Office PowerPoint</Application>
  <DocSecurity>0</DocSecurity>
  <PresentationFormat>와이드스크린</PresentationFormat>
  <Paragraphs>209</Paragraphs>
  <Slides>15</Slides>
  <Notes>15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kccistc</cp:lastModifiedBy>
  <cp:revision>4</cp:revision>
  <dcterms:created xsi:type="dcterms:W3CDTF">2026-10-22T07:28:47Z</dcterms:created>
  <dcterms:modified xsi:type="dcterms:W3CDTF">2026-10-22T08:06:30Z</dcterms:modified>
</cp:coreProperties>
</file>